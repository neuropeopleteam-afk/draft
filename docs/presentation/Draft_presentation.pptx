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sp-draft.ru" TargetMode="External"/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hyperlink" Target="https://fsp-draft.ru/demo" TargetMode="External"/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hyperlink" Target="https://fsp-draft.ru" TargetMode="External"/><Relationship Id="rId5" Type="http://schemas.openxmlformats.org/officeDocument/2006/relationships/hyperlink" Target="https://fsp-draft.ru/demo" TargetMode="External"/><Relationship Id="rId6" Type="http://schemas.openxmlformats.org/officeDocument/2006/relationships/hyperlink" Target="https://fsp-draft.ru/validation" TargetMode="External"/><Relationship Id="rId7" Type="http://schemas.openxmlformats.org/officeDocument/2006/relationships/hyperlink" Target="https://fsp-draft.ru/api/docs" TargetMode="External"/><Relationship Id="rId8" Type="http://schemas.openxmlformats.org/officeDocument/2006/relationships/hyperlink" Target="https://github.com/neuropeopleteam-afk/draft" TargetMode="External"/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9" Type="http://schemas.openxmlformats.org/officeDocument/2006/relationships/image" Target="../media/image-24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_fs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66928"/>
            <a:ext cx="4023360" cy="508406"/>
          </a:xfrm>
          <a:prstGeom prst="rect">
            <a:avLst/>
          </a:prstGeom>
        </p:spPr>
      </p:pic>
      <p:pic>
        <p:nvPicPr>
          <p:cNvPr id="3" name="Image 1" descr="/home/user/workspace/w/a10/docs/presentation/assets/logo_d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3291840" cy="1049731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301752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Компании выбирают подтверждённых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11480" y="37033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Найм IT-специалистов наоборот: уровень ставит тест, а компания сама приходит к кандидату — с зарплатой в приглашении.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41148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ЗАДАЧА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411480" y="484632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Цифровая платформа-агрегатор ИТ-вакансий с верифицированным профилем достижений участника Федерации спортивного программирования (ФСП)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11480" y="5715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</a:t>
            </a: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капитан Денис Михеев  ·  </a:t>
            </a: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11480" y="6108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Специальный трек ФСП · Лидеры цифровой трансформации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38201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382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 КОМАНДЕ И РЕШЕНИИ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 и решение «Драфт»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600200"/>
            <a:ext cx="507492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 команде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395728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Михеев Денис Геннадьевич, генеральный директор NeuroPeople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Количество участников: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человека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Краткое описание: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NeuroPeople делает нейросотрудников — ИИ, который выполняет работу специалиста от начала до конца; первый продукт на рынке — «Ноэма», нейропсихолог</a:t>
            </a:r>
            <a:endParaRPr lang="en-US" sz="13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работы участников: NeuroPeople — оператор платформы «Драфт»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Город и регион: </a:t>
            </a:r>
            <a:r>
              <a:rPr lang="en-US" sz="13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Москва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669280" y="1600200"/>
            <a:ext cx="6080760" cy="2286000"/>
          </a:xfrm>
          <a:prstGeom prst="roundRect">
            <a:avLst>
              <a:gd name="adj" fmla="val 56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897880" y="17830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Краткое описание решения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89788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897880" y="23317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«Драфт» — платформа подбора ИТ-специалистов с обратной механикой. Кандидат проходит адаптивный тест и получает подтверждённый грейд. Работодатель описывает потребность текстом или голосом ИИ-проводнику Насте, видит подборку только из проверенных и сам приходит к кандидату с приглашением и обязательной зарплатной вилкой. Достижения ФСП — из официальных протоколов, в карточке со ссылкой.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0" y="4023360"/>
            <a:ext cx="6080760" cy="1737360"/>
          </a:xfrm>
          <a:prstGeom prst="roundRect">
            <a:avLst>
              <a:gd name="adj" fmla="val 736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897880" y="41605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Уникальность решения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897880" y="456285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897880" y="4681728"/>
            <a:ext cx="5669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уровень ставит тест, а не резюме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цифра — в двух колонках: стандартные условия и проверка на прочность; протокол и хэш — до прогона, прогон один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ИИ-проводник голосом ведёт по продукту и проводит устный этап теста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кабинет ФСП: спрос работодателей, карта талантов, протоколы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33045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Участники команды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645920"/>
            <a:ext cx="5554980" cy="3977640"/>
          </a:xfrm>
          <a:prstGeom prst="roundRect">
            <a:avLst>
              <a:gd name="adj" fmla="val 321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11" name="Image 2" descr="/home/user/workspace/w/a10/docs/presentation/assets/team_mikheev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74520"/>
            <a:ext cx="2651760" cy="24782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566160" y="1847088"/>
            <a:ext cx="2171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Михеев Денис Геннадьевич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3566160" y="2468880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566160" y="260604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в команде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3566160" y="283464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капитан, руководитель проекта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566160" y="333756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Ник в мессенджере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3566160" y="356616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@den_kot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566160" y="406908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 телефона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3566160" y="429768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+7 926 725-55-34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566160" y="480060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работы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3566160" y="502920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NeuroPeople, генеральный директор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95060" y="1645920"/>
            <a:ext cx="5554980" cy="3977640"/>
          </a:xfrm>
          <a:prstGeom prst="roundRect">
            <a:avLst>
              <a:gd name="adj" fmla="val 321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23" name="Image 3" descr="/home/user/workspace/w/a10/docs/presentation/assets/team_kuznetsov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3660" y="1874520"/>
            <a:ext cx="2651760" cy="24782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49740" y="1847088"/>
            <a:ext cx="2171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Кузнецов Дмитрий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9349740" y="2468880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349740" y="260604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в команде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9349740" y="283464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инженер по качеству и внедрению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9349740" y="333756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Ник в мессенджере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9349740" y="356616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@dmkuznetsoff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9349740" y="406908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 телефона</a:t>
            </a:r>
            <a:endParaRPr lang="en-US" sz="950" dirty="0"/>
          </a:p>
        </p:txBody>
      </p:sp>
      <p:sp>
        <p:nvSpPr>
          <p:cNvPr id="31" name="Text 25"/>
          <p:cNvSpPr/>
          <p:nvPr/>
        </p:nvSpPr>
        <p:spPr>
          <a:xfrm>
            <a:off x="9349740" y="429768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+7 981 170-19-87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9349740" y="4800600"/>
            <a:ext cx="2171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работы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9349740" y="5029200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NeuroPeople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06654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ИСТОРИЯ И ВЫЗОВЫ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История команды, выбор задачи и сложности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463040"/>
            <a:ext cx="11338560" cy="0"/>
          </a:xfrm>
          <a:prstGeom prst="line">
            <a:avLst/>
          </a:prstGeom>
          <a:noFill/>
          <a:ln w="12700">
            <a:solidFill>
              <a:srgbClr val="EC1D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0835640" y="1536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11480" y="15361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Краткая история команды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11480" y="1856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делаем нейросотрудников — ИИ, который берёт работу специалиста целиком. Первый из них, «Ноэма», уже разговаривает с пользователями. Каждый день мы решаем задачу: как проверить, что исполнитель умеет заявленное. В «Драфте» мы решили её для ИТ-найма.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11480" y="2560320"/>
            <a:ext cx="11338560" cy="0"/>
          </a:xfrm>
          <a:prstGeom prst="line">
            <a:avLst/>
          </a:prstGeom>
          <a:noFill/>
          <a:ln w="12700">
            <a:solidFill>
              <a:srgbClr val="EC1D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835640" y="26334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11480" y="26334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мы выбрали эту задачу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11480" y="295351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Эту задачу не решить красивым интерфейсом: нужно доказать, что тест измеряет уровень, а подбор находит тех, кто справится. Так мы проверяем и своих нейросотрудников: сможет ли небольшая команда с ними за неделю сделать продукт уровня большой компании.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11480" y="3657600"/>
            <a:ext cx="11338560" cy="0"/>
          </a:xfrm>
          <a:prstGeom prst="line">
            <a:avLst/>
          </a:prstGeom>
          <a:noFill/>
          <a:ln w="12700">
            <a:solidFill>
              <a:srgbClr val="EC1D3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0835640" y="37307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11480" y="37307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Основные сложности и как мы с ними справились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11480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76072" y="4297680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76072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Честная проверка качества без людей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76072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модельные кандидаты, не люди; протокол и хэш данных — до прогона; один прогон на отложенных мирах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2706624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871216" y="4297680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871216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 ИИ-проводник в реальном времени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2871216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задержки ответа, естественность речи, устный этап теста тем же голосом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001768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66360" y="4297680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166360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Распознавание протоколов ФСП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166360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индексе 18 официальных протоколов и 2 908 результатов спортсменов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7296912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461504" y="4297680"/>
            <a:ext cx="384048" cy="54864"/>
          </a:xfrm>
          <a:prstGeom prst="rect">
            <a:avLst/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461504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тест с античитом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7461504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видов сигналов честности — 21; при подозрении — дополнительная проверка, без автоблокировок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9592056" y="4133088"/>
            <a:ext cx="2157984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756648" y="4297680"/>
            <a:ext cx="384048" cy="54864"/>
          </a:xfrm>
          <a:prstGeom prst="rect">
            <a:avLst/>
          </a:prstGeom>
          <a:solidFill>
            <a:srgbClr val="FF8A98"/>
          </a:solidFill>
          <a:ln w="12700">
            <a:solidFill>
              <a:srgbClr val="FF8A9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9756648" y="4425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Сильные модели за рубежом, данные — в Москве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9756648" y="5010912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личные данные вырезаются до отправки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411480" y="587044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— docs/NUMBERS.json: fsp_protocols.index.documents, fsp_protocols.index.results, anticheat.proctoring_signals_total.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17170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171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КОРОТКО О РЕШЕНИИ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Техническая и маркетинговая суть решения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600200"/>
            <a:ext cx="557784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Техническая суть решения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2423160"/>
            <a:ext cx="51206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FastAPI и PostgreSQL, React и TypeScript, Docker Compose — запуск одной командой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тест: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IRT, последовательное правило SPRT, второй этап у границы грейда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1 646 семейств заданий; код проверяется тестами на сервере, ключи в браузер не уходят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 по подтверждённым фактам (LTR):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 первой пятёрки 77,1 % в стандартных условиях и 75,9 % в проверке на прочность; у каждой карточки — «почему выше»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Индекс протоколов ФСП: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протоколов, 2 908 результатов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ИИ-проводник «Настя»: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речь ↔ речь, живой аватар; ведёт по продукту и проводит устный этап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1600200"/>
            <a:ext cx="557784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Маркетинговая суть решения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00800" y="2185416"/>
            <a:ext cx="384048" cy="45720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0" y="2423160"/>
            <a:ext cx="51206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кандидатам — бесплатно, работодатели платят за подтверждённый найм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Партнёрство с ФСП: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 к работодателям и региональным представительствам федерации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Интеграции: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hh.ru и ATS работодателя — без смены привычных инструментов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калибровка заданий на ответах людей — в плане, не проведена: 300–500 участников, 6–8 недель, протокол — до начала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Дальше: </a:t>
            </a: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практические задания на языке стека кандидата — Java, Kotlin, Go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411480" y="587044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— docs/NUMBERS.json: bank.families; matching.p5 и matching.hard.p5 (модельные кандидаты, не люди); fsp_protocols.index.documents и .results.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22529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Резюме пишут все.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Доказательств в нём нет</a:t>
            </a:r>
            <a:endParaRPr lang="en-US" sz="3400" dirty="0"/>
          </a:p>
        </p:txBody>
      </p:sp>
      <p:pic>
        <p:nvPicPr>
          <p:cNvPr id="10" name="Image 2" descr="/home/user/workspace/w/a10/docs/presentation/assets/deco_cu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868680"/>
            <a:ext cx="2194560" cy="21945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11480" y="274320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612648" y="2962656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12648" y="309067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Компания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12648" y="3547872"/>
            <a:ext cx="320954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Сотни откликов вручную, навыки ничем не подтверждены. Ошибка найма стоит месяцы.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224528" y="274320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425696" y="2962656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425696" y="309067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4425696" y="3547872"/>
            <a:ext cx="320954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Откликается вслепую: зарплату и условия узнаёт только на собеседовании.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037576" y="274320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38744" y="2962656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238744" y="309067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Федерация ФСП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238744" y="3547872"/>
            <a:ext cx="320954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Объективные результаты спортсменов есть — канала к работодателям нет.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12014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Обратный драфт: уровень ставит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тест, компания приходит сама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2648" y="2606040"/>
            <a:ext cx="502920" cy="502920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126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1264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вместо резюме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1264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 один раз подтверждает уровень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251460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72034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21508" y="2606040"/>
            <a:ext cx="502920" cy="502920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92150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292150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Категория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292150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«направление · грейд» — только по тесту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82346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02920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30368" y="2606040"/>
            <a:ext cx="502920" cy="502920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230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23036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Задача своими словами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23036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компания пишет или надиктовывает потребность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13232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33806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539228" y="2606040"/>
            <a:ext cx="502920" cy="502920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53922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753922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с объяснением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753922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кандидат здесь и чем это подтверждено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9441180" y="2852928"/>
            <a:ext cx="20574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9646920" y="2377440"/>
            <a:ext cx="2103120" cy="2743200"/>
          </a:xfrm>
          <a:prstGeom prst="roundRect">
            <a:avLst>
              <a:gd name="adj" fmla="val 608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848088" y="2606040"/>
            <a:ext cx="502920" cy="502920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84808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9848088" y="3246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Приглашение с вилкой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9848088" y="4023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зарплата обязательна, контакты — после согласия</a:t>
            </a:r>
            <a:endParaRPr lang="en-US" sz="1300" dirty="0"/>
          </a:p>
        </p:txBody>
      </p:sp>
      <p:sp>
        <p:nvSpPr>
          <p:cNvPr id="39" name="Text 35"/>
          <p:cNvSpPr/>
          <p:nvPr/>
        </p:nvSpPr>
        <p:spPr>
          <a:xfrm>
            <a:off x="411480" y="52303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029200" y="5230368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РАБОТОДАТЕЛЬ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411480" y="576072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Резюме и заявленные навыки на место в подборке не влияют. Кандидат без истории ФСП ничего не теряет.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64592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ТЕСТИРОВАНИЕ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Тест: свой вариант у каждого,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финале — разговор с ИИ-аватаром</a:t>
            </a:r>
            <a:endParaRPr lang="en-US" sz="3000" dirty="0"/>
          </a:p>
        </p:txBody>
      </p:sp>
      <p:pic>
        <p:nvPicPr>
          <p:cNvPr id="10" name="Image 2" descr="/home/user/workspace/w/a10/docs/presentation/assets/deco_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822960"/>
            <a:ext cx="2103120" cy="21031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1148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1 646</a:t>
            </a:r>
            <a:endParaRPr lang="en-US" sz="3400" dirty="0"/>
          </a:p>
        </p:txBody>
      </p:sp>
      <p:sp>
        <p:nvSpPr>
          <p:cNvPr id="12" name="Text 7"/>
          <p:cNvSpPr/>
          <p:nvPr/>
        </p:nvSpPr>
        <p:spPr>
          <a:xfrm>
            <a:off x="411480" y="25786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семейств заданий: генераторы, а не готовые вопросы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338328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32 896</a:t>
            </a:r>
            <a:endParaRPr lang="en-US" sz="3400" dirty="0"/>
          </a:p>
        </p:txBody>
      </p:sp>
      <p:sp>
        <p:nvSpPr>
          <p:cNvPr id="14" name="Text 9"/>
          <p:cNvSpPr/>
          <p:nvPr/>
        </p:nvSpPr>
        <p:spPr>
          <a:xfrm>
            <a:off x="3383280" y="25786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уникальных вариантов на проверке банка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35508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1"/>
          <p:cNvSpPr/>
          <p:nvPr/>
        </p:nvSpPr>
        <p:spPr>
          <a:xfrm>
            <a:off x="6355080" y="25786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ошибок в ключах: варианты с кодом проверены исполнением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11480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12648" y="3739896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12648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12648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Следующее задание — по прошлым ответам; тест останавливается, когда уверенности достаточно.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273552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74720" y="3739896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474720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Свои задания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3474720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Вариант собирается для кандидата; слив почти не помогает, ключи — только на сервере.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135624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336792" y="3739896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36792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исхода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336792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 · не подтверждён · у самой границы — короткий второй этап вместо угадывания.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997696" y="3520440"/>
            <a:ext cx="2697480" cy="2148840"/>
          </a:xfrm>
          <a:prstGeom prst="roundRect">
            <a:avLst>
              <a:gd name="adj" fmla="val 595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198864" y="3739896"/>
            <a:ext cx="384048" cy="54864"/>
          </a:xfrm>
          <a:prstGeom prst="rect">
            <a:avLst/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9198864" y="386791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Финальный разговор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9198864" y="4325112"/>
            <a:ext cx="229514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ИИ-аватар голосом спрашивает кандидата о его же решениях — дополнительная проверка.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411480" y="580644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 — байесовская последовательная классификация с остановкой по SPRT.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— только из проверенного,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 объяснение у каждого кандидата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48840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221992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— только подтверждённый тестом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25603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заявленный в резюме уровень не фильтрует и не даёт баллов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044952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11810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Навык без теста — ноль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0080" y="345643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задают тест по навыкам этой вакансии и достижения ФСП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11480" y="3941064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01421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— по официальным протоколам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" y="435254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бонус за подтверждённое, без штрафа тем, у кого истории нет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11480" y="4837176"/>
            <a:ext cx="6675120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0080" y="491032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«Почему он выше следующего»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40080" y="52486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объяснение полными фразами в каждой карточке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315200" y="2148840"/>
            <a:ext cx="4434840" cy="3493008"/>
          </a:xfrm>
          <a:prstGeom prst="roundRect">
            <a:avLst>
              <a:gd name="adj" fmla="val 366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54380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точность первой пятёрки (P@5)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754380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60120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на прочность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543800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77,1 %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9601200" y="2971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75,9 %</a:t>
            </a:r>
            <a:endParaRPr lang="en-US" sz="2600" dirty="0"/>
          </a:p>
        </p:txBody>
      </p:sp>
      <p:sp>
        <p:nvSpPr>
          <p:cNvPr id="28" name="Shape 24"/>
          <p:cNvSpPr/>
          <p:nvPr/>
        </p:nvSpPr>
        <p:spPr>
          <a:xfrm>
            <a:off x="7543800" y="3703320"/>
            <a:ext cx="3977640" cy="0"/>
          </a:xfrm>
          <a:prstGeom prst="line">
            <a:avLst/>
          </a:prstGeom>
          <a:noFill/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5438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Открытый набор вакансий — nDCG@10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7543800" y="4206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0,58</a:t>
            </a:r>
            <a:endParaRPr lang="en-US" sz="2600" dirty="0"/>
          </a:p>
        </p:txBody>
      </p:sp>
      <p:sp>
        <p:nvSpPr>
          <p:cNvPr id="31" name="Text 27"/>
          <p:cNvSpPr/>
          <p:nvPr/>
        </p:nvSpPr>
        <p:spPr>
          <a:xfrm>
            <a:off x="7543800" y="4754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данные, которых при настройке не было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33045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ВАЛИДАЦИЯ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цифра — дважды: в стандартных</a:t>
            </a:r>
            <a:endParaRPr lang="en-US" sz="2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условиях и в проверке на прочность</a:t>
            </a:r>
            <a:endParaRPr lang="en-US" sz="2800" dirty="0"/>
          </a:p>
        </p:txBody>
      </p:sp>
      <p:sp>
        <p:nvSpPr>
          <p:cNvPr id="10" name="Shape 6"/>
          <p:cNvSpPr/>
          <p:nvPr/>
        </p:nvSpPr>
        <p:spPr>
          <a:xfrm>
            <a:off x="411480" y="2011680"/>
            <a:ext cx="9692640" cy="566928"/>
          </a:xfrm>
          <a:prstGeom prst="roundRect">
            <a:avLst>
              <a:gd name="adj" fmla="val 22581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05740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120640" y="205740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406640" y="20574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на прочность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11480" y="2670048"/>
            <a:ext cx="9692640" cy="566928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0080" y="2670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Точный грейд — 6 ступеней, все кандидаты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2697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77,6 %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7406640" y="2697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75,4 %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640080" y="327355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Ложное подтверждение грейда (от всех)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120640" y="3300984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2,1 %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7406640" y="330098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2,7 %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411480" y="3877056"/>
            <a:ext cx="9692640" cy="566928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38770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nDCG@10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120640" y="39044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0,66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7406640" y="39044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0,57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411480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94360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1005840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 и хэш данных — до прогона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3273552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3456432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30" name="Text 26"/>
          <p:cNvSpPr/>
          <p:nvPr/>
        </p:nvSpPr>
        <p:spPr>
          <a:xfrm>
            <a:off x="3867912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Настройка — только на обучающих данных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135624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318504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33" name="Text 29"/>
          <p:cNvSpPr/>
          <p:nvPr/>
        </p:nvSpPr>
        <p:spPr>
          <a:xfrm>
            <a:off x="6729984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прогон на отложенных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8997696" y="4617720"/>
            <a:ext cx="2697480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9180576" y="46817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9592056" y="4681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цифры — из одного файла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11480" y="5650992"/>
            <a:ext cx="11338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справа строже: грейд — по шести ступеням; в тесте кандидаты угадывают, чаще завышают заявку, больше людей у порогов; в подборе часть анкет завышает грейд и стек. Обе колонки — один прогон на отложенных данных. Кандидаты модельные, не люди; условия, N и команда пересчёта — на сайте, раздел «Как мы проверяем себя».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75107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И КОМАНДА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Федерации — канал к работодателям.</a:t>
            </a:r>
            <a:endParaRPr lang="en-US" sz="2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</a:t>
            </a:r>
            <a:endParaRPr lang="en-US" sz="2800" dirty="0"/>
          </a:p>
        </p:txBody>
      </p:sp>
      <p:sp>
        <p:nvSpPr>
          <p:cNvPr id="10" name="Shape 6"/>
          <p:cNvSpPr/>
          <p:nvPr/>
        </p:nvSpPr>
        <p:spPr>
          <a:xfrm>
            <a:off x="411480" y="2057400"/>
            <a:ext cx="5029200" cy="3611880"/>
          </a:xfrm>
          <a:prstGeom prst="roundRect">
            <a:avLst>
              <a:gd name="adj" fmla="val 354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Официальные протоколы ФСП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64008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протоколов в индексе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2926080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2 908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292608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результатов спортсменов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40080" y="3611880"/>
            <a:ext cx="4617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достижение в карточке — со ссылкой на строку протокола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разряд — понятным работодателю языком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кабинет ФСП: спрос компаний по регионам и направлениям</a:t>
            </a:r>
            <a:endParaRPr lang="en-US" sz="1250" dirty="0"/>
          </a:p>
        </p:txBody>
      </p:sp>
      <p:pic>
        <p:nvPicPr>
          <p:cNvPr id="17" name="Image 2" descr="/home/user/workspace/w/a10/docs/presentation/assets/team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057400"/>
            <a:ext cx="6080760" cy="280219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669280" y="496932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Дмитрий Кузнецов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инженер по качеству и внедрению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732520" y="496932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Денис Михеев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капитан, Neuropeople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669280" y="553212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Проверьте сами: </a:t>
            </a: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fsp-draft.ru/demo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_dra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94560"/>
            <a:ext cx="2743200" cy="87508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329184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11480" y="4069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Подробности для вопросов жюри: замечания нашей внутренней проверки, как мы проверяем, механика подбора, тест, валидация, документы ФСП, интеграции, архитектура, монетизация, ссылки.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64592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САМОПРОВЕРКА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Проверили себя как жюри: 12 замечаний внутренней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проверки 20.10 — и что исправили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9496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68680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Место — по тесту и ФСП, стек — фильтр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9496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задают тест по навыкам вакансии и ФСП; заявленное без теста не влияет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39496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/employer/needs/&lt;id&gt;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76295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404311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733495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Фильтр грейда без заявленного уровня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404311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Фильтр отбирает только грейд, подтверждённый тестом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3404311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/employer/search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141110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69126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598310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 не должен уходить в браузер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269126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Ключи хранятся и проверяются только на сервере; сквозной тест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6269126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e2e 21-no-answer-keys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9005926" y="1874520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133942" y="196596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9463126" y="196596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Демо-код ФСП ID — не как рабочий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9133942" y="2377440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виден только в демо-роли, с пометкой «Демо-стенд»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9133942" y="2807208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/candidate/fsp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411480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39496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868680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— с потребностью и без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539496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правила описаны и покрыты тестами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539496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docs/matching/ORDER.md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3276295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404311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3"/>
          <p:cNvSpPr/>
          <p:nvPr/>
        </p:nvSpPr>
        <p:spPr>
          <a:xfrm>
            <a:off x="3733495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«Почему» — без устного перевода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3404311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Пояснения полными фразами, без внутренних кодов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404311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карточка в подборке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141110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269126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38"/>
          <p:cNvSpPr/>
          <p:nvPr/>
        </p:nvSpPr>
        <p:spPr>
          <a:xfrm>
            <a:off x="6598310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Вилка до согласия, контакты закрыты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269126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вилки — ошибка 422; отзыв согласия снова закрывает контакты</a:t>
            </a:r>
            <a:endParaRPr lang="en-US" sz="900" dirty="0"/>
          </a:p>
        </p:txBody>
      </p:sp>
      <p:sp>
        <p:nvSpPr>
          <p:cNvPr id="44" name="Text 40"/>
          <p:cNvSpPr/>
          <p:nvPr/>
        </p:nvSpPr>
        <p:spPr>
          <a:xfrm>
            <a:off x="6269126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/candidate/invitations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9005926" y="3172968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9133942" y="32644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400" dirty="0"/>
          </a:p>
        </p:txBody>
      </p:sp>
      <p:sp>
        <p:nvSpPr>
          <p:cNvPr id="47" name="Text 43"/>
          <p:cNvSpPr/>
          <p:nvPr/>
        </p:nvSpPr>
        <p:spPr>
          <a:xfrm>
            <a:off x="9463126" y="326440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Провал не снимает грейд; без ФСП — в выдаче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9133942" y="3675888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в коде и тестах; ФСП без истории — ноль, без штрафа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9133942" y="4105656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/demo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411480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9496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400" dirty="0"/>
          </a:p>
        </p:txBody>
      </p:sp>
      <p:sp>
        <p:nvSpPr>
          <p:cNvPr id="52" name="Text 48"/>
          <p:cNvSpPr/>
          <p:nvPr/>
        </p:nvSpPr>
        <p:spPr>
          <a:xfrm>
            <a:off x="868680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Секреты — не в репозитории</a:t>
            </a:r>
            <a:endParaRPr lang="en-US" sz="1000" dirty="0"/>
          </a:p>
        </p:txBody>
      </p:sp>
      <p:sp>
        <p:nvSpPr>
          <p:cNvPr id="53" name="Text 49"/>
          <p:cNvSpPr/>
          <p:nvPr/>
        </p:nvSpPr>
        <p:spPr>
          <a:xfrm>
            <a:off x="539496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.env на сервере; проверка всей истории gitleaks</a:t>
            </a:r>
            <a:endParaRPr lang="en-US" sz="900" dirty="0"/>
          </a:p>
        </p:txBody>
      </p:sp>
      <p:sp>
        <p:nvSpPr>
          <p:cNvPr id="54" name="Text 50"/>
          <p:cNvSpPr/>
          <p:nvPr/>
        </p:nvSpPr>
        <p:spPr>
          <a:xfrm>
            <a:off x="539496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.gitleaks.toml</a:t>
            </a:r>
            <a:endParaRPr lang="en-US" sz="850" dirty="0"/>
          </a:p>
        </p:txBody>
      </p:sp>
      <p:sp>
        <p:nvSpPr>
          <p:cNvPr id="55" name="Shape 51"/>
          <p:cNvSpPr/>
          <p:nvPr/>
        </p:nvSpPr>
        <p:spPr>
          <a:xfrm>
            <a:off x="3276295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3404311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3"/>
          <p:cNvSpPr/>
          <p:nvPr/>
        </p:nvSpPr>
        <p:spPr>
          <a:xfrm>
            <a:off x="3733495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Письмо подтверждения — настоящее</a:t>
            </a:r>
            <a:endParaRPr lang="en-US" sz="1000" dirty="0"/>
          </a:p>
        </p:txBody>
      </p:sp>
      <p:sp>
        <p:nvSpPr>
          <p:cNvPr id="58" name="Text 54"/>
          <p:cNvSpPr/>
          <p:nvPr/>
        </p:nvSpPr>
        <p:spPr>
          <a:xfrm>
            <a:off x="3404311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приходит письмом; почта — с проверкой сертификата</a:t>
            </a:r>
            <a:endParaRPr lang="en-US" sz="900" dirty="0"/>
          </a:p>
        </p:txBody>
      </p:sp>
      <p:sp>
        <p:nvSpPr>
          <p:cNvPr id="59" name="Text 55"/>
          <p:cNvSpPr/>
          <p:nvPr/>
        </p:nvSpPr>
        <p:spPr>
          <a:xfrm>
            <a:off x="3404311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/register</a:t>
            </a:r>
            <a:endParaRPr lang="en-US" sz="850" dirty="0"/>
          </a:p>
        </p:txBody>
      </p:sp>
      <p:sp>
        <p:nvSpPr>
          <p:cNvPr id="60" name="Shape 56"/>
          <p:cNvSpPr/>
          <p:nvPr/>
        </p:nvSpPr>
        <p:spPr>
          <a:xfrm>
            <a:off x="6141110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269126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400" dirty="0"/>
          </a:p>
        </p:txBody>
      </p:sp>
      <p:sp>
        <p:nvSpPr>
          <p:cNvPr id="62" name="Text 58"/>
          <p:cNvSpPr/>
          <p:nvPr/>
        </p:nvSpPr>
        <p:spPr>
          <a:xfrm>
            <a:off x="6598310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 без обещаний</a:t>
            </a:r>
            <a:endParaRPr lang="en-US" sz="1000" dirty="0"/>
          </a:p>
        </p:txBody>
      </p:sp>
      <p:sp>
        <p:nvSpPr>
          <p:cNvPr id="63" name="Text 59"/>
          <p:cNvSpPr/>
          <p:nvPr/>
        </p:nvSpPr>
        <p:spPr>
          <a:xfrm>
            <a:off x="6269126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цифра — из NUMBERS.json с условием; сборка проверяет ссылки</a:t>
            </a:r>
            <a:endParaRPr lang="en-US" sz="900" dirty="0"/>
          </a:p>
        </p:txBody>
      </p:sp>
      <p:sp>
        <p:nvSpPr>
          <p:cNvPr id="64" name="Text 60"/>
          <p:cNvSpPr/>
          <p:nvPr/>
        </p:nvSpPr>
        <p:spPr>
          <a:xfrm>
            <a:off x="6269126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README.md</a:t>
            </a:r>
            <a:endParaRPr lang="en-US" sz="850" dirty="0"/>
          </a:p>
        </p:txBody>
      </p:sp>
      <p:sp>
        <p:nvSpPr>
          <p:cNvPr id="65" name="Shape 61"/>
          <p:cNvSpPr/>
          <p:nvPr/>
        </p:nvSpPr>
        <p:spPr>
          <a:xfrm>
            <a:off x="9005926" y="4471416"/>
            <a:ext cx="2743200" cy="1207008"/>
          </a:xfrm>
          <a:prstGeom prst="roundRect">
            <a:avLst>
              <a:gd name="adj" fmla="val 1060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9133942" y="45628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400" dirty="0"/>
          </a:p>
        </p:txBody>
      </p:sp>
      <p:sp>
        <p:nvSpPr>
          <p:cNvPr id="67" name="Text 63"/>
          <p:cNvSpPr/>
          <p:nvPr/>
        </p:nvSpPr>
        <p:spPr>
          <a:xfrm>
            <a:off x="9463126" y="456285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изменилось к финалу и почему</a:t>
            </a:r>
            <a:endParaRPr lang="en-US" sz="1000" dirty="0"/>
          </a:p>
        </p:txBody>
      </p:sp>
      <p:sp>
        <p:nvSpPr>
          <p:cNvPr id="68" name="Text 64"/>
          <p:cNvSpPr/>
          <p:nvPr/>
        </p:nvSpPr>
        <p:spPr>
          <a:xfrm>
            <a:off x="9133942" y="4974336"/>
            <a:ext cx="2505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 документ по волнам доработки</a:t>
            </a:r>
            <a:endParaRPr lang="en-US" sz="900" dirty="0"/>
          </a:p>
        </p:txBody>
      </p:sp>
      <p:sp>
        <p:nvSpPr>
          <p:cNvPr id="69" name="Text 65"/>
          <p:cNvSpPr/>
          <p:nvPr/>
        </p:nvSpPr>
        <p:spPr>
          <a:xfrm>
            <a:off x="9133942" y="5404104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docs/submission/CHANGELOG.md</a:t>
            </a:r>
            <a:endParaRPr lang="en-US" sz="850" dirty="0"/>
          </a:p>
        </p:txBody>
      </p:sp>
      <p:sp>
        <p:nvSpPr>
          <p:cNvPr id="70" name="Text 66"/>
          <p:cNvSpPr/>
          <p:nvPr/>
        </p:nvSpPr>
        <p:spPr>
          <a:xfrm>
            <a:off x="411480" y="587044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Проверку 20.10 провели сами по критериям жюри; каждую строку можно проверить самостоятельно — адрес на сайте, тест или файл указан в карточке. Полная таблица с методами API и тестами — README, раздел «Внутренняя проверка 20.10 (сами, по критериям жюри) — как проверить».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06654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МЫ ПРОВЕРЯЕМ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мы проверяем себя:</a:t>
            </a:r>
            <a:endParaRPr lang="en-US" sz="2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сначала правила и хэш, потом один прогон</a:t>
            </a:r>
            <a:endParaRPr lang="en-US" sz="2800" dirty="0"/>
          </a:p>
        </p:txBody>
      </p:sp>
      <p:sp>
        <p:nvSpPr>
          <p:cNvPr id="10" name="Shape 6"/>
          <p:cNvSpPr/>
          <p:nvPr/>
        </p:nvSpPr>
        <p:spPr>
          <a:xfrm>
            <a:off x="411480" y="1874520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1874520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960120" y="19385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 и хэш — до прогона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960120" y="22037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меряем и на каких данных — коммит в git; отложенный набор заморожен, его хэш записан</a:t>
            </a:r>
            <a:endParaRPr lang="en-US" sz="880" dirty="0"/>
          </a:p>
        </p:txBody>
      </p:sp>
      <p:sp>
        <p:nvSpPr>
          <p:cNvPr id="14" name="Shape 10"/>
          <p:cNvSpPr/>
          <p:nvPr/>
        </p:nvSpPr>
        <p:spPr>
          <a:xfrm>
            <a:off x="411480" y="2642616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640" y="2642616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960120" y="27066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прогон на отложенных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960120" y="2971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настройка — только на обучающих данных; повторного отчётного прогона на тех же данных нет, лучший из нескольких не выбираем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411480" y="3410712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8640" y="3410712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960120" y="3474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Независимый пересчёт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960120" y="37398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независимый рецензент повторяет прогон в чистой копии репозитория и сверяет каждое поле</a:t>
            </a:r>
            <a:endParaRPr lang="en-US" sz="880" dirty="0"/>
          </a:p>
        </p:txBody>
      </p:sp>
      <p:sp>
        <p:nvSpPr>
          <p:cNvPr id="22" name="Shape 18"/>
          <p:cNvSpPr/>
          <p:nvPr/>
        </p:nvSpPr>
        <p:spPr>
          <a:xfrm>
            <a:off x="411480" y="4178808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48640" y="4178808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960120" y="4242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Две колонки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960120" y="45079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метрика — в стандартных условиях и в проверке на прочность, рядом</a:t>
            </a:r>
            <a:endParaRPr lang="en-US" sz="880" dirty="0"/>
          </a:p>
        </p:txBody>
      </p:sp>
      <p:sp>
        <p:nvSpPr>
          <p:cNvPr id="26" name="Shape 22"/>
          <p:cNvSpPr/>
          <p:nvPr/>
        </p:nvSpPr>
        <p:spPr>
          <a:xfrm>
            <a:off x="411480" y="4946904"/>
            <a:ext cx="4754880" cy="694944"/>
          </a:xfrm>
          <a:prstGeom prst="roundRect">
            <a:avLst>
              <a:gd name="adj" fmla="val 18421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48640" y="4946904"/>
            <a:ext cx="365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960120" y="50109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файл цифр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960120" y="5276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docs/NUMBERS.json → сайт, README, документация и эти слайды; цифры руками не пишем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5394960" y="1874520"/>
            <a:ext cx="6355080" cy="3767328"/>
          </a:xfrm>
          <a:prstGeom prst="roundRect">
            <a:avLst>
              <a:gd name="adj" fmla="val 339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596128" y="1965960"/>
            <a:ext cx="598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отчётных прогонов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9052560" y="199339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заморожено до прогона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5486400" y="2377440"/>
            <a:ext cx="6172200" cy="43891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596128" y="23774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на грейд — итоговый прогон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 = 3 000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9052560" y="23774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 заданий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913ad19f6a25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5596128" y="28346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 — отложенные миры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9052560" y="28346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FREEZE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dcfffef39515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5486400" y="3291840"/>
            <a:ext cx="6172200" cy="43891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596128" y="32918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Вакансии hh.ru — второй отложенный набор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9052560" y="32918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список вакансий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2bb77a1cd8d7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5596128" y="37490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Открытый набор вакансий и резюме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9052560" y="37490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набор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f06ae238d62e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486400" y="4206240"/>
            <a:ext cx="6172200" cy="438912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596128" y="42062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проверки ответов — набор атак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проход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9052560" y="42062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набор атак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71c375aebb94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5596128" y="46634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Протоколы ФСП — ручная сверка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 страниц</a:t>
            </a:r>
            <a:endParaRPr lang="en-US" sz="950" dirty="0"/>
          </a:p>
        </p:txBody>
      </p:sp>
      <p:sp>
        <p:nvSpPr>
          <p:cNvPr id="47" name="Text 43"/>
          <p:cNvSpPr/>
          <p:nvPr/>
        </p:nvSpPr>
        <p:spPr>
          <a:xfrm>
            <a:off x="9052560" y="46634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выборка </a:t>
            </a: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5922ee0e3899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411480" y="576072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Хэш — начало SHA-256 из docs/NUMBERS.json. Где кандидаты модельные, а не люди, — это написано рядом с каждой цифрой.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12014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Наоборот: компания сама приходит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 кандидату, чей уровень доказан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2560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148840" y="214884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331720" y="2331720"/>
            <a:ext cx="402336" cy="402336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33172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862072" y="22768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Регистрация и опрос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331720" y="28620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почта с подтверждением, направление, стек, желаемый грейд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66360" y="286207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394960" y="214884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577840" y="2331720"/>
            <a:ext cx="402336" cy="402336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57784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108192" y="22768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вместо резюме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577840" y="28620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адаптивный: следующее задание зависит от ответов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412480" y="286207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8641080" y="214884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823960" y="2331720"/>
            <a:ext cx="402336" cy="402336"/>
          </a:xfrm>
          <a:prstGeom prst="ellipse">
            <a:avLst/>
          </a:prstGeom>
          <a:solidFill>
            <a:srgbClr val="EC1D35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82396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9354312" y="22768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Категория «направление · грейд»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8823960" y="28620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по тесту; достижения ФСП — по протоколам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411480" y="4251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РАБОТОДАТЕЛЬ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2148840" y="384048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331720" y="4023360"/>
            <a:ext cx="402336" cy="402336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33172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2862072" y="39684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Потребность своими словами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2331720" y="45537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или файл вакансии; требования — с цитатой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166360" y="455371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5394960" y="384048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577840" y="4023360"/>
            <a:ext cx="402336" cy="402336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57784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4"/>
          <p:cNvSpPr/>
          <p:nvPr/>
        </p:nvSpPr>
        <p:spPr>
          <a:xfrm>
            <a:off x="6108192" y="39684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с объяснением</a:t>
            </a:r>
            <a:endParaRPr lang="en-US" sz="1300" dirty="0"/>
          </a:p>
        </p:txBody>
      </p:sp>
      <p:sp>
        <p:nvSpPr>
          <p:cNvPr id="39" name="Text 35"/>
          <p:cNvSpPr/>
          <p:nvPr/>
        </p:nvSpPr>
        <p:spPr>
          <a:xfrm>
            <a:off x="5577840" y="45537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обезличенные карточки: почему кандидат здесь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8412480" y="4553712"/>
            <a:ext cx="22860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8641080" y="3840480"/>
            <a:ext cx="3017520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823960" y="4023360"/>
            <a:ext cx="402336" cy="402336"/>
          </a:xfrm>
          <a:prstGeom prst="ellipse">
            <a:avLst/>
          </a:prstGeom>
          <a:solidFill>
            <a:srgbClr val="402FFF"/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882396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300" dirty="0"/>
          </a:p>
        </p:txBody>
      </p:sp>
      <p:sp>
        <p:nvSpPr>
          <p:cNvPr id="44" name="Text 40"/>
          <p:cNvSpPr/>
          <p:nvPr/>
        </p:nvSpPr>
        <p:spPr>
          <a:xfrm>
            <a:off x="9354312" y="39684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Приглашение с вилкой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823960" y="45537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зарплата «от–до» обязательна; контакты — после согласия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411480" y="562356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 без истории ФСП ничего не теряет: составляющая ФСП в подборке у него просто равна нулю, без штрафа.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06654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МЕХАНИКА ПОДБОРА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из подтверждённых фактов —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 объяснение у каждого кандидата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03120"/>
            <a:ext cx="5120640" cy="3611880"/>
          </a:xfrm>
          <a:prstGeom prst="roundRect">
            <a:avLst>
              <a:gd name="adj" fmla="val 354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240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 чего складывается место в подборке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теста по грейду и навыкам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429000" y="2880360"/>
            <a:ext cx="1316736" cy="237744"/>
          </a:xfrm>
          <a:prstGeom prst="roundRect">
            <a:avLst>
              <a:gd name="adj" fmla="val 19231"/>
            </a:avLst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92040" y="27889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45 %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" y="3337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Обязательный стек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3429000"/>
            <a:ext cx="1024128" cy="237744"/>
          </a:xfrm>
          <a:prstGeom prst="roundRect">
            <a:avLst>
              <a:gd name="adj" fmla="val 19231"/>
            </a:avLst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8920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35 %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40080" y="3886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Желательный стек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3977640"/>
            <a:ext cx="146304" cy="237744"/>
          </a:xfrm>
          <a:prstGeom prst="roundRect">
            <a:avLst>
              <a:gd name="adj" fmla="val 31250"/>
            </a:avLst>
          </a:prstGeom>
          <a:solidFill>
            <a:srgbClr val="7C74E8"/>
          </a:solidFill>
          <a:ln w="12700">
            <a:solidFill>
              <a:srgbClr val="7C74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92040" y="38862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640080" y="4434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Подтверждённые достижения ФСП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4526280"/>
            <a:ext cx="292608" cy="237744"/>
          </a:xfrm>
          <a:prstGeom prst="roundRect">
            <a:avLst>
              <a:gd name="adj" fmla="val 19231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892040" y="44348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10 %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40080" y="4983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Короткое задание работодателя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3429000" y="5074920"/>
            <a:ext cx="146304" cy="237744"/>
          </a:xfrm>
          <a:prstGeom prst="roundRect">
            <a:avLst>
              <a:gd name="adj" fmla="val 31250"/>
            </a:avLst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4983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5 %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0080" y="5257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Доли — из кода ранжирования (backend/app/modules/matching/ranking.py).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760720" y="2103120"/>
            <a:ext cx="5989320" cy="1115568"/>
          </a:xfrm>
          <a:prstGeom prst="roundRect">
            <a:avLst>
              <a:gd name="adj" fmla="val 1147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61888" y="2286000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— только подтверждённый</a:t>
            </a:r>
            <a:endParaRPr lang="en-US" sz="1350" dirty="0"/>
          </a:p>
        </p:txBody>
      </p:sp>
      <p:sp>
        <p:nvSpPr>
          <p:cNvPr id="30" name="Text 26"/>
          <p:cNvSpPr/>
          <p:nvPr/>
        </p:nvSpPr>
        <p:spPr>
          <a:xfrm>
            <a:off x="5961888" y="2743200"/>
            <a:ext cx="5586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Фильтр категории работает по тесту, не по резюме. Без подтверждения кандидат виден по направлению, последним и с пометкой.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760720" y="3328416"/>
            <a:ext cx="5989320" cy="1115568"/>
          </a:xfrm>
          <a:prstGeom prst="roundRect">
            <a:avLst>
              <a:gd name="adj" fmla="val 1147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961888" y="3511296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— бонус, а не штраф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5961888" y="3968496"/>
            <a:ext cx="5586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«Подтверждено ФСП» — полный вес, «ждёт подтверждения» — половина, заявлено без документа — ноль.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760720" y="4553712"/>
            <a:ext cx="5989320" cy="1115568"/>
          </a:xfrm>
          <a:prstGeom prst="roundRect">
            <a:avLst>
              <a:gd name="adj" fmla="val 1147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961888" y="4736592"/>
            <a:ext cx="5586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Уточнение без потери</a:t>
            </a:r>
            <a:endParaRPr lang="en-US" sz="1350" dirty="0"/>
          </a:p>
        </p:txBody>
      </p:sp>
      <p:sp>
        <p:nvSpPr>
          <p:cNvPr id="36" name="Text 32"/>
          <p:cNvSpPr/>
          <p:nvPr/>
        </p:nvSpPr>
        <p:spPr>
          <a:xfrm>
            <a:off x="5961888" y="5193792"/>
            <a:ext cx="5586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фильтр создаёт новую версию подборки; прежние сохраняются и сравниваются.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64592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ТЕСТИРОВАНИЕ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Свой вариант у каждого —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сложность сопоставима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1965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1 646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411480" y="25328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семейств заданий в банке: генераторы, а не готовые вопросы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154680" y="1965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32 896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3154680" y="25328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уникальных вариантов на проверке банка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897880" y="1965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897880" y="25328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ошибок в ключах: каждый вариант с кодом проверяется исполнением эталонного решения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11480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2648" y="3648456"/>
            <a:ext cx="384048" cy="54864"/>
          </a:xfrm>
          <a:prstGeom prst="rect">
            <a:avLst/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12648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тест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12648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Следующее задание подбирается по ответам; около трети — практика: код и развёрнутый ответ.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273552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474720" y="3648456"/>
            <a:ext cx="384048" cy="54864"/>
          </a:xfrm>
          <a:prstGeom prst="rect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4720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исхода вердикта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474720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подтверждён · не подтверждён · у самой границы — короткий второй этап вместо угадывания.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135624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36792" y="3648456"/>
            <a:ext cx="384048" cy="54864"/>
          </a:xfrm>
          <a:prstGeom prst="rect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336792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Утечка почти не помогает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336792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Варианты по зерну, контроль частоты показа, повтор — на новых семействах, ключи только на сервере.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8997696" y="342900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9198864" y="3648456"/>
            <a:ext cx="384048" cy="54864"/>
          </a:xfrm>
          <a:prstGeom prst="rect">
            <a:avLst/>
          </a:prstGeom>
          <a:solidFill>
            <a:srgbClr val="402FFF"/>
          </a:solidFill>
          <a:ln w="12700">
            <a:solidFill>
              <a:srgbClr val="402FFF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198864" y="3776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Честность без автобана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9198864" y="4233672"/>
            <a:ext cx="2295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и больше сигнала (вкладки, вставка, время) — дополнительная проверка: задания у порога или устная защита.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проверка банка: 20 вариантов-зёрен на каждое семейство, коммит банка ab16d27, 21.10.2026. Повтор на тот же грейд — через 30 дней, смена подтверждённого грейда — раз в 90 дней.</a:t>
            </a:r>
            <a:endParaRPr lang="en-US" sz="950" dirty="0"/>
          </a:p>
        </p:txBody>
      </p:sp>
      <p:pic>
        <p:nvPicPr>
          <p:cNvPr id="33" name="Image 2" descr="/home/user/workspace/w/a10/docs/presentation/assets/deco_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914400"/>
            <a:ext cx="23774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2907792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ТЕСТИРОВАНИЕ И ВАЛИДАЦИЯ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Процедура, которой можно не верить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слово — её можно повторить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4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594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94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и как меряем — коммит до прогона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514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697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880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2880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Заморозка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2880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отложенный набор, хэш в git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00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983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66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5166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Настройка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5166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только на обучающих данных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7086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7269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452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7452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прогон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452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отложенных данных, без выбора лучшего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9372600" y="2880360"/>
            <a:ext cx="182880" cy="0"/>
          </a:xfrm>
          <a:prstGeom prst="line">
            <a:avLst/>
          </a:prstGeom>
          <a:noFill/>
          <a:ln w="19050">
            <a:solidFill>
              <a:srgbClr val="A59DFF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9555480" y="2148840"/>
            <a:ext cx="2103120" cy="1463040"/>
          </a:xfrm>
          <a:prstGeom prst="roundRect">
            <a:avLst>
              <a:gd name="adj" fmla="val 875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738360" y="22585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1D3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97383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файл цифр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9738360" y="3035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NUMBERS.json → сайт, документы, слайды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11480" y="3840480"/>
            <a:ext cx="3639312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12648" y="402336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</a:t>
            </a:r>
            <a:endParaRPr lang="en-US" sz="1350" dirty="0"/>
          </a:p>
        </p:txBody>
      </p:sp>
      <p:sp>
        <p:nvSpPr>
          <p:cNvPr id="36" name="Text 32"/>
          <p:cNvSpPr/>
          <p:nvPr/>
        </p:nvSpPr>
        <p:spPr>
          <a:xfrm>
            <a:off x="612648" y="448056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Модельные кандидаты с известным уровнем проходят тот же движок, что на сайте; три «мира»: точные параметры, неточная трудность заданий, ошибки проверки.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224528" y="3840480"/>
            <a:ext cx="3639312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425696" y="402336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</a:t>
            </a:r>
            <a:endParaRPr lang="en-US" sz="1350" dirty="0"/>
          </a:p>
        </p:txBody>
      </p:sp>
      <p:sp>
        <p:nvSpPr>
          <p:cNvPr id="39" name="Text 35"/>
          <p:cNvSpPr/>
          <p:nvPr/>
        </p:nvSpPr>
        <p:spPr>
          <a:xfrm>
            <a:off x="4425696" y="448056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Отложенные синтетические миры с известной релевантностью; сравнение с поиском по тексту резюме и с подбором без теста.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8037576" y="3840480"/>
            <a:ext cx="3639312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238744" y="402336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данные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8238744" y="448056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Вакансии hh.ru — разбор потребности; официальные протоколы ФСП — сверка достижений; защита проверки — отложенный набор атак.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Где кандидаты модельные — это написано рядом с цифрой. Пересчёт любой цифры — одной командой, указанной в docs/NUMBERS.json.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75107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ФСП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Достижение — со ссылкой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официальный протокол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411480" y="24871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официальных протоколов ФСП России в индексе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8803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2 908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2880360" y="24871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результатов спортсменов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34924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69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349240" y="24871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субъектов РФ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11480" y="3337560"/>
            <a:ext cx="7223760" cy="2331720"/>
          </a:xfrm>
          <a:prstGeom prst="roundRect">
            <a:avLst>
              <a:gd name="adj" fmla="val 549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344728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достижения в карточке кандидата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58368" y="3995928"/>
            <a:ext cx="164592" cy="164592"/>
          </a:xfrm>
          <a:prstGeom prst="ellipse">
            <a:avLst/>
          </a:prstGeom>
          <a:solidFill>
            <a:srgbClr val="4BE3A3"/>
          </a:solidFill>
          <a:ln w="12700">
            <a:solidFill>
              <a:srgbClr val="4BE3A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14400" y="38862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Подтверждено ФСП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200400" y="3886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вход через ФСП ID или решение федерации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943600" y="38862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 вес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58368" y="4425696"/>
            <a:ext cx="164592" cy="164592"/>
          </a:xfrm>
          <a:prstGeom prst="ellipse">
            <a:avLst/>
          </a:prstGeom>
          <a:solidFill>
            <a:srgbClr val="A59DFF"/>
          </a:solidFill>
          <a:ln w="12700">
            <a:solidFill>
              <a:srgbClr val="A59D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14400" y="4315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Ждёт подтверждения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3200400" y="4315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 нашёл свою строку в протоколе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5943600" y="43159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58368" y="4855464"/>
            <a:ext cx="164592" cy="164592"/>
          </a:xfrm>
          <a:prstGeom prst="ellipse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14400" y="474573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Заявлено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200400" y="47457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документа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5943600" y="47457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ноль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658368" y="5285232"/>
            <a:ext cx="164592" cy="164592"/>
          </a:xfrm>
          <a:prstGeom prst="ellipse">
            <a:avLst/>
          </a:prstGeom>
          <a:solidFill>
            <a:srgbClr val="C9CCF2"/>
          </a:solidFill>
          <a:ln w="12700">
            <a:solidFill>
              <a:srgbClr val="C9CCF2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14400" y="51755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Истории ФСП нет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3200400" y="51755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ничего не указано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5943600" y="5175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ноль, без штрафа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7863840" y="1920240"/>
            <a:ext cx="3886200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065008" y="2103120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Разряд по ЕВСК</a:t>
            </a:r>
            <a:endParaRPr lang="en-US" sz="1350" dirty="0"/>
          </a:p>
        </p:txBody>
      </p:sp>
      <p:sp>
        <p:nvSpPr>
          <p:cNvPr id="36" name="Text 32"/>
          <p:cNvSpPr/>
          <p:nvPr/>
        </p:nvSpPr>
        <p:spPr>
          <a:xfrm>
            <a:off x="8065008" y="2560320"/>
            <a:ext cx="3483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Выводится из места, числа участвующих субъектов РФ и состава судейской коллегии — и показывается с основанием.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6200"/>
            <a:ext cx="3886200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065008" y="4069080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Персональные данные</a:t>
            </a:r>
            <a:endParaRPr lang="en-US" sz="1350" dirty="0"/>
          </a:p>
        </p:txBody>
      </p:sp>
      <p:sp>
        <p:nvSpPr>
          <p:cNvPr id="39" name="Text 35"/>
          <p:cNvSpPr/>
          <p:nvPr/>
        </p:nvSpPr>
        <p:spPr>
          <a:xfrm>
            <a:off x="8065008" y="4526280"/>
            <a:ext cx="3483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 протокола — только ФИО, год рождения, регион, место, разряд. Индекс вне репозитория, ключи поиска — HMAC, открытого каталога спортсменов нет.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Официальные протоколы ФСП России 2025–2026 с сайта федерации; судьи, тренеры и справки исключены; 21.10.2026.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435608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ИНТЕГРАЦИИ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Встраивается в то, чем уже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пользуются федерация и компании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2648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ФСП ID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12648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вход и связь профиля по OIDC; демо-стенд на Keycloak, переключение на боевой — настройкой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73552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74720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Реестр ФСП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474720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API реестра и рабочий адаптер; до появления API — официальные протоколы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35624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36792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hh.ru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336792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рынка: спрос по навыкам и зарплатные вилки по категориям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997696" y="21031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198864" y="22860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ATS работодателя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198864" y="27432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передача кандидата и этапы найма в обе стороны, универсальный вебхук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11480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12648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ЕГРЮЛ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612648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компании и индекс доверия — защита от фиктивных вакансий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273552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74720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Файлы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3474720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 из PDF-резюме, потребность из файла вакансии, стандартизированный PDF-профиль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135624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36792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6336792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письма, уведомления в кабинете и в браузере, подписка на новых кандидатов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8997696" y="3931920"/>
            <a:ext cx="2697480" cy="1664208"/>
          </a:xfrm>
          <a:prstGeom prst="roundRect">
            <a:avLst>
              <a:gd name="adj" fmla="val 769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98864" y="4114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Мобильное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9198864" y="4572000"/>
            <a:ext cx="229514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адаптивный сайт, установка как приложение, Android-приложение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Открытое API: 438 операций в спецификации OpenAPI — fsp-draft.ru/api/docs.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751076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ЧЕСТНЫЕ ЦИФРЫ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 и те же метрики — в стандартных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условиях и в проверке на прочность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411480" y="1874520"/>
            <a:ext cx="8092440" cy="566928"/>
          </a:xfrm>
          <a:prstGeom prst="roundRect">
            <a:avLst>
              <a:gd name="adj" fmla="val 22581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4360" y="192024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206240" y="190195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(как в аналогичных решениях)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172200" y="190195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на прочность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(наши жёсткие условия)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11480" y="2514600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94360" y="2514600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 уверенного ответа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206240" y="251460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88,1 %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172200" y="251460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89,6 %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94360" y="2798064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Точный грейд — 6 ступеней, все кандидаты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4206240" y="279806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77,6 %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172200" y="279806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75,4 %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411480" y="3081528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94360" y="3081528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Грейд с точностью ±1 ступень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4206240" y="308152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99,9 %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172200" y="308152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99,9 %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94360" y="3364992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на других заданиях (взвешенная каппа)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4206240" y="336499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0,85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6172200" y="336499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0,91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411480" y="3648456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360" y="3648456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Ложное подтверждение грейда (от всех)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4206240" y="364845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2,1 %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6172200" y="364845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2,7 %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94360" y="3931920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Завышенная заявка прошла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4206240" y="393192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8,8 %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172200" y="393192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7,1 %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411480" y="4215384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94360" y="4215384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точность первой пятёрки (P@5)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4206240" y="421538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77,1 %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6172200" y="421538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75,9 %</a:t>
            </a:r>
            <a:endParaRPr lang="en-US" sz="1250" dirty="0"/>
          </a:p>
        </p:txBody>
      </p:sp>
      <p:sp>
        <p:nvSpPr>
          <p:cNvPr id="39" name="Text 35"/>
          <p:cNvSpPr/>
          <p:nvPr/>
        </p:nvSpPr>
        <p:spPr>
          <a:xfrm>
            <a:off x="594360" y="4498848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nDCG@10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206240" y="449884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0,66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6172200" y="4498848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0,57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411480" y="4782312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594360" y="4782312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MRR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4206240" y="478231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0,86</a:t>
            </a:r>
            <a:endParaRPr lang="en-US" sz="1250" dirty="0"/>
          </a:p>
        </p:txBody>
      </p:sp>
      <p:sp>
        <p:nvSpPr>
          <p:cNvPr id="45" name="Text 41"/>
          <p:cNvSpPr/>
          <p:nvPr/>
        </p:nvSpPr>
        <p:spPr>
          <a:xfrm>
            <a:off x="6172200" y="4782312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0,88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94360" y="5065776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хотя бы один подходящий в первой пятёрке</a:t>
            </a:r>
            <a:endParaRPr lang="en-US" sz="950" dirty="0"/>
          </a:p>
        </p:txBody>
      </p:sp>
      <p:sp>
        <p:nvSpPr>
          <p:cNvPr id="47" name="Text 43"/>
          <p:cNvSpPr/>
          <p:nvPr/>
        </p:nvSpPr>
        <p:spPr>
          <a:xfrm>
            <a:off x="4206240" y="506577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98,1 %</a:t>
            </a:r>
            <a:endParaRPr lang="en-US" sz="1250" dirty="0"/>
          </a:p>
        </p:txBody>
      </p:sp>
      <p:sp>
        <p:nvSpPr>
          <p:cNvPr id="48" name="Text 44"/>
          <p:cNvSpPr/>
          <p:nvPr/>
        </p:nvSpPr>
        <p:spPr>
          <a:xfrm>
            <a:off x="6172200" y="5065776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98,5 %</a:t>
            </a:r>
            <a:endParaRPr lang="en-US" sz="1250" dirty="0"/>
          </a:p>
        </p:txBody>
      </p:sp>
      <p:sp>
        <p:nvSpPr>
          <p:cNvPr id="49" name="Shape 45"/>
          <p:cNvSpPr/>
          <p:nvPr/>
        </p:nvSpPr>
        <p:spPr>
          <a:xfrm>
            <a:off x="411480" y="5349240"/>
            <a:ext cx="8092440" cy="283464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94360" y="5349240"/>
            <a:ext cx="3520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Подбор: переоценённых в первой десятке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4206240" y="534924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2,8 %</a:t>
            </a:r>
            <a:endParaRPr lang="en-US" sz="1250" dirty="0"/>
          </a:p>
        </p:txBody>
      </p:sp>
      <p:sp>
        <p:nvSpPr>
          <p:cNvPr id="52" name="Text 48"/>
          <p:cNvSpPr/>
          <p:nvPr/>
        </p:nvSpPr>
        <p:spPr>
          <a:xfrm>
            <a:off x="6172200" y="5349240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4,0 %</a:t>
            </a:r>
            <a:endParaRPr lang="en-US" sz="1250" dirty="0"/>
          </a:p>
        </p:txBody>
      </p:sp>
      <p:sp>
        <p:nvSpPr>
          <p:cNvPr id="53" name="Shape 49"/>
          <p:cNvSpPr/>
          <p:nvPr/>
        </p:nvSpPr>
        <p:spPr>
          <a:xfrm>
            <a:off x="8686800" y="1874520"/>
            <a:ext cx="3063240" cy="3758184"/>
          </a:xfrm>
          <a:prstGeom prst="roundRect">
            <a:avLst>
              <a:gd name="adj" fmla="val 417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8887968" y="19842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данные</a:t>
            </a:r>
            <a:endParaRPr lang="en-US" sz="1300" dirty="0"/>
          </a:p>
        </p:txBody>
      </p:sp>
      <p:sp>
        <p:nvSpPr>
          <p:cNvPr id="55" name="Text 51"/>
          <p:cNvSpPr/>
          <p:nvPr/>
        </p:nvSpPr>
        <p:spPr>
          <a:xfrm>
            <a:off x="8887968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85,1 %</a:t>
            </a:r>
            <a:endParaRPr lang="en-US" sz="1800" dirty="0"/>
          </a:p>
        </p:txBody>
      </p:sp>
      <p:sp>
        <p:nvSpPr>
          <p:cNvPr id="56" name="Text 52"/>
          <p:cNvSpPr/>
          <p:nvPr/>
        </p:nvSpPr>
        <p:spPr>
          <a:xfrm>
            <a:off x="8887968" y="27706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Вакансии hh.ru: направление определено верно</a:t>
            </a:r>
            <a:endParaRPr lang="en-US" sz="950" dirty="0"/>
          </a:p>
        </p:txBody>
      </p:sp>
      <p:sp>
        <p:nvSpPr>
          <p:cNvPr id="57" name="Text 53"/>
          <p:cNvSpPr/>
          <p:nvPr/>
        </p:nvSpPr>
        <p:spPr>
          <a:xfrm>
            <a:off x="8887968" y="31638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0,58</a:t>
            </a:r>
            <a:endParaRPr lang="en-US" sz="1800" dirty="0"/>
          </a:p>
        </p:txBody>
      </p:sp>
      <p:sp>
        <p:nvSpPr>
          <p:cNvPr id="58" name="Text 54"/>
          <p:cNvSpPr/>
          <p:nvPr/>
        </p:nvSpPr>
        <p:spPr>
          <a:xfrm>
            <a:off x="8887968" y="35570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Открытый набор вакансий — nDCG@10</a:t>
            </a:r>
            <a:endParaRPr lang="en-US" sz="950" dirty="0"/>
          </a:p>
        </p:txBody>
      </p:sp>
      <p:sp>
        <p:nvSpPr>
          <p:cNvPr id="59" name="Text 55"/>
          <p:cNvSpPr/>
          <p:nvPr/>
        </p:nvSpPr>
        <p:spPr>
          <a:xfrm>
            <a:off x="8887968" y="39502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1800" dirty="0"/>
          </a:p>
        </p:txBody>
      </p:sp>
      <p:sp>
        <p:nvSpPr>
          <p:cNvPr id="60" name="Text 56"/>
          <p:cNvSpPr/>
          <p:nvPr/>
        </p:nvSpPr>
        <p:spPr>
          <a:xfrm>
            <a:off x="8887968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Официальных протоколов ФСП в индексе</a:t>
            </a:r>
            <a:endParaRPr lang="en-US" sz="950" dirty="0"/>
          </a:p>
        </p:txBody>
      </p:sp>
      <p:sp>
        <p:nvSpPr>
          <p:cNvPr id="61" name="Text 57"/>
          <p:cNvSpPr/>
          <p:nvPr/>
        </p:nvSpPr>
        <p:spPr>
          <a:xfrm>
            <a:off x="8887968" y="4736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2 908</a:t>
            </a:r>
            <a:endParaRPr lang="en-US" sz="1800" dirty="0"/>
          </a:p>
        </p:txBody>
      </p:sp>
      <p:sp>
        <p:nvSpPr>
          <p:cNvPr id="62" name="Text 58"/>
          <p:cNvSpPr/>
          <p:nvPr/>
        </p:nvSpPr>
        <p:spPr>
          <a:xfrm>
            <a:off x="8887968" y="51297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Результатов спортсменов в индексе</a:t>
            </a:r>
            <a:endParaRPr lang="en-US" sz="950" dirty="0"/>
          </a:p>
        </p:txBody>
      </p:sp>
      <p:sp>
        <p:nvSpPr>
          <p:cNvPr id="63" name="Text 59"/>
          <p:cNvSpPr/>
          <p:nvPr/>
        </p:nvSpPr>
        <p:spPr>
          <a:xfrm>
            <a:off x="411480" y="568756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EA3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Стандартные условия (как в аналогичных решениях): a = 1,5 в движке, истинные a × U(0,825; 1,175) и b + N(0; 0,3), угадывание 0,25 в вопросах с выбором и 0,02 в остальных, θ ~ N(0,5; 1,0), заявки: 65 % точные, 25 % завышены, 10 % занижены; модельные кандидаты, не люди; N = 3 000, зёрна 5501…5510; время — в среднем 43 мин (p90 69); банк ab16d27 (913ad19f6a259aff), 2026-10-21.  Жёсткие условия: угадывание в вопросах с выбором, завышение и занижение заявок, кандидаты у порогов, консервативные параметры банка (a = 1,0 / 1,3); модельные кандидаты, не люди; N = 3 000, зёрна 4401…4410; время — в среднем 45 мин (p90 81); банк ab16d27 (913ad19f6a259aff), 2026-10-21. Модельные кандидаты, не люди; какие условия идут заголовком, решено до прогонов. Все условия, N и команды пересчёта — docs/NUMBERS.json, приложение Б документации, /validation.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54076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Модульный монолит: просто развернуть,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легко проверить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1965960"/>
            <a:ext cx="694944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/home/user/workspace/w/a10/docs/submission/assets/diagram_2.png">    </p:cNvPr>
          <p:cNvPicPr>
            <a:picLocks noChangeAspect="1"/>
          </p:cNvPicPr>
          <p:nvPr/>
        </p:nvPicPr>
        <p:blipFill>
          <a:blip r:embed="rId4"/>
          <a:srcRect l="-10309" r="-10309" t="0" b="0"/>
          <a:stretch/>
        </p:blipFill>
        <p:spPr>
          <a:xfrm>
            <a:off x="548640" y="2075688"/>
            <a:ext cx="6675120" cy="352958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589520" y="1965960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772400" y="2011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7772400" y="227685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React, TypeScript, Vite, Tailwind; адаптив 360 / 768 / 1280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589520" y="2724912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772400" y="2770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772400" y="30358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Python, FastAPI, SQLAlchemy, Alembic; модули со слоями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589520" y="3483864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7724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772400" y="37947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16; банк заданий — отдельный пакет без сети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7589520" y="4242816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772400" y="4288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772400" y="45537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Compose, одна команда make up; миграции и демо-данные сами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7589520" y="5001768"/>
            <a:ext cx="4160520" cy="667512"/>
          </a:xfrm>
          <a:prstGeom prst="roundRect">
            <a:avLst>
              <a:gd name="adj" fmla="val 1917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72400" y="5047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внешних ключей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72400" y="53126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модели — правила и ручная проверка; нет почты — коды в лог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540764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МОНЕТИЗАЦИЯ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Кандидатам — бесплатно.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Платят за подтверждённый найм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411480" y="2103120"/>
            <a:ext cx="3639312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40080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E3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бесплатно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40080" y="306324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ограниченное число приглашений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подборка с объяснением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 компании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24528" y="2103120"/>
            <a:ext cx="3639312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53128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Найм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453128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9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регулярного подбора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453128" y="306324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с ATS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задания с автопроверкой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зарплатных вилок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37576" y="2103120"/>
            <a:ext cx="3639312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266176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 ФСП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266176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8A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спонсорском пакете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8266176" y="3063240"/>
            <a:ext cx="3246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метка «Партнёр ФСП» в карточке компании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отборочные задачи компании в соревнованиях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кубки работодателя под брендом компании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11480" y="4617720"/>
            <a:ext cx="1133856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12648" y="4800600"/>
            <a:ext cx="10936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Спонсорские пакеты федерации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12648" y="5257800"/>
            <a:ext cx="10936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 соревнования · партнёр направления · генеральный партнёр: соревнования ФСП становятся источником найма, а спортсмены получают карьерное преимущество от своих результатов. Оформление — заявкой на странице тарифов.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w/a10/docs/presentation/assets/logos_organiz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29184"/>
            <a:ext cx="4882896" cy="3383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01752"/>
            <a:ext cx="1120140" cy="402336"/>
          </a:xfrm>
          <a:prstGeom prst="roundRect">
            <a:avLst>
              <a:gd name="adj" fmla="val 27273"/>
            </a:avLst>
          </a:prstGeom>
          <a:solidFill>
            <a:srgbClr val="EC1D35"/>
          </a:solidFill>
          <a:ln w="12700">
            <a:solidFill>
              <a:srgbClr val="EC1D3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301752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endParaRPr lang="en-US" sz="1100" dirty="0"/>
          </a:p>
        </p:txBody>
      </p:sp>
      <p:pic>
        <p:nvPicPr>
          <p:cNvPr id="5" name="Image 1" descr="/home/user/workspace/w/a10/docs/presentation/assets/logo_fs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00800"/>
            <a:ext cx="2167128" cy="2743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0" y="6400800"/>
            <a:ext cx="18288" cy="274320"/>
          </a:xfrm>
          <a:prstGeom prst="rect">
            <a:avLst/>
          </a:prstGeom>
          <a:solidFill>
            <a:srgbClr val="9EA3D9"/>
          </a:solidFill>
          <a:ln w="12700">
            <a:solidFill>
              <a:srgbClr val="9EA3D9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80360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Драфт</a:t>
            </a: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fsp-draft.ru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47120" y="635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11338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Neuropeople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411480" y="15087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платформы — команда Neuropeople (конкурсный прототип). Решение подготовлено для специального трека ФСП «Лидеры цифровой трансформации 2026».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68880"/>
            <a:ext cx="7132320" cy="3200400"/>
          </a:xfrm>
          <a:prstGeom prst="roundRect">
            <a:avLst>
              <a:gd name="adj" fmla="val 4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263347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Рабочий сайт</a:t>
            </a:r>
            <a:endParaRPr lang="en-US" sz="1100" dirty="0"/>
          </a:p>
        </p:txBody>
      </p:sp>
      <p:sp>
        <p:nvSpPr>
          <p:cNvPr id="13" name="Text 9">
            <a:hlinkClick r:id="rId4" tooltip=""/>
          </p:cNvPr>
          <p:cNvSpPr/>
          <p:nvPr/>
        </p:nvSpPr>
        <p:spPr>
          <a:xfrm>
            <a:off x="640080" y="28803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40080" y="321868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для жюри: вход в любую роль в один клик</a:t>
            </a:r>
            <a:endParaRPr lang="en-US" sz="1100" dirty="0"/>
          </a:p>
        </p:txBody>
      </p:sp>
      <p:sp>
        <p:nvSpPr>
          <p:cNvPr id="15" name="Text 11">
            <a:hlinkClick r:id="rId5" tooltip=""/>
          </p:cNvPr>
          <p:cNvSpPr/>
          <p:nvPr/>
        </p:nvSpPr>
        <p:spPr>
          <a:xfrm>
            <a:off x="640080" y="346557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fsp-draft.ru/demo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3803904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Методика и все цифры с условиями</a:t>
            </a:r>
            <a:endParaRPr lang="en-US" sz="1100" dirty="0"/>
          </a:p>
        </p:txBody>
      </p:sp>
      <p:sp>
        <p:nvSpPr>
          <p:cNvPr id="17" name="Text 13">
            <a:hlinkClick r:id="rId6" tooltip=""/>
          </p:cNvPr>
          <p:cNvSpPr/>
          <p:nvPr/>
        </p:nvSpPr>
        <p:spPr>
          <a:xfrm>
            <a:off x="640080" y="405079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fsp-draft.ru/validation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0080" y="43891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Описание API</a:t>
            </a:r>
            <a:endParaRPr lang="en-US" sz="1100" dirty="0"/>
          </a:p>
        </p:txBody>
      </p:sp>
      <p:sp>
        <p:nvSpPr>
          <p:cNvPr id="19" name="Text 15">
            <a:hlinkClick r:id="rId7" tooltip=""/>
          </p:cNvPr>
          <p:cNvSpPr/>
          <p:nvPr/>
        </p:nvSpPr>
        <p:spPr>
          <a:xfrm>
            <a:off x="640080" y="463600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fsp-draft.ru/api/docs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0080" y="497433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Исходный код</a:t>
            </a:r>
            <a:endParaRPr lang="en-US" sz="1100" dirty="0"/>
          </a:p>
        </p:txBody>
      </p:sp>
      <p:sp>
        <p:nvSpPr>
          <p:cNvPr id="21" name="Text 17">
            <a:hlinkClick r:id="rId8" tooltip=""/>
          </p:cNvPr>
          <p:cNvSpPr/>
          <p:nvPr/>
        </p:nvSpPr>
        <p:spPr>
          <a:xfrm>
            <a:off x="640080" y="52212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github.com/neuropeopleteam-afk/draft</a:t>
            </a:r>
            <a:endParaRPr lang="en-US" sz="1400" dirty="0"/>
          </a:p>
        </p:txBody>
      </p:sp>
      <p:pic>
        <p:nvPicPr>
          <p:cNvPr id="22" name="Image 2" descr="/home/user/workspace/w/a10/docs/presentation/assets/logo_draf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80" y="2468880"/>
            <a:ext cx="2651760" cy="84490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18388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Компании выбирают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подтверждённых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001000" y="4297680"/>
            <a:ext cx="3749040" cy="1371600"/>
          </a:xfrm>
          <a:prstGeom prst="roundRect">
            <a:avLst>
              <a:gd name="adj" fmla="val 9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02168" y="448056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дальше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202168" y="4937760"/>
            <a:ext cx="33467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3F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Калибровка на ответах людей — в плане, не проведена: 300–500 участников, 6–8 недель. Протокол — до начала.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Команда Neuropeople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«Драфт» — найм IT-специалистов с подтверждённым грейдом</dc:title>
  <dc:subject>PptxGenJS Presentation</dc:subject>
  <dc:creator>Команда Neuropeople</dc:creator>
  <cp:lastModifiedBy>Команда Neuropeople</cp:lastModifiedBy>
  <cp:revision>1</cp:revision>
  <dcterms:created xsi:type="dcterms:W3CDTF">2026-10-21T19:54:42Z</dcterms:created>
  <dcterms:modified xsi:type="dcterms:W3CDTF">2026-10-21T19:54:42Z</dcterms:modified>
</cp:coreProperties>
</file>