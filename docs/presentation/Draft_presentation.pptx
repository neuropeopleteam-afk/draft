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hyperlink" Target="https://fsp-draft.ru" TargetMode="Externa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jpg"/><Relationship Id="rId5" Type="http://schemas.openxmlformats.org/officeDocument/2006/relationships/image" Target="../media/image-3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hyperlink" Target="https://fsp-draft.ru/demo" TargetMode="External"/><Relationship Id="rId1" Type="http://schemas.openxmlformats.org/officeDocument/2006/relationships/image" Target="../media/Slide-11-image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jpe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jpe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jpe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jpe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hyperlink" Target="https://fsp-draft.ru" TargetMode="External"/><Relationship Id="rId5" Type="http://schemas.openxmlformats.org/officeDocument/2006/relationships/hyperlink" Target="https://fsp-draft.ru/demo" TargetMode="External"/><Relationship Id="rId6" Type="http://schemas.openxmlformats.org/officeDocument/2006/relationships/hyperlink" Target="https://fsp-draft.ru/validation" TargetMode="External"/><Relationship Id="rId7" Type="http://schemas.openxmlformats.org/officeDocument/2006/relationships/hyperlink" Target="https://fsp-draft.ru/api/docs" TargetMode="External"/><Relationship Id="rId8" Type="http://schemas.openxmlformats.org/officeDocument/2006/relationships/hyperlink" Target="https://github.com/neuropeopleteam-afk/draft" TargetMode="External"/><Relationship Id="rId1" Type="http://schemas.openxmlformats.org/officeDocument/2006/relationships/image" Target="../media/Slide-24-image-1.jpe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9" Type="http://schemas.openxmlformats.org/officeDocument/2006/relationships/image" Target="../media/image-24-4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space/w/a10/docs/presentation/assets/logo_fs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566928"/>
            <a:ext cx="4023360" cy="508406"/>
          </a:xfrm>
          <a:prstGeom prst="rect">
            <a:avLst/>
          </a:prstGeom>
        </p:spPr>
      </p:pic>
      <p:pic>
        <p:nvPicPr>
          <p:cNvPr id="3" name="Image 1" descr="/home/user/workspace/w/a10/docs/presentation/assets/logo_draf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83080"/>
            <a:ext cx="3291840" cy="104973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11480" y="3017520"/>
            <a:ext cx="8778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Компании выбирают подтверждённых</a:t>
            </a:r>
            <a:endParaRPr lang="en-US" sz="3000" dirty="0"/>
          </a:p>
        </p:txBody>
      </p:sp>
      <p:sp>
        <p:nvSpPr>
          <p:cNvPr id="5" name="Text 1"/>
          <p:cNvSpPr/>
          <p:nvPr/>
        </p:nvSpPr>
        <p:spPr>
          <a:xfrm>
            <a:off x="411480" y="370332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Найм IT-специалистов наоборот: уровень ставит тест, а компания сама приходит к кандидату — с зарплатой в приглашении.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411480" y="4572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8A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ЗАДАЧА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411480" y="4846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Цифровая платформа-агрегатор ИТ-вакансий с верифицированным профилем достижений участника Федерации спортивного программирования (ФСП)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11480" y="57150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Команда Neuropeople</a:t>
            </a: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·  капитан Денис Михеев  ·  </a:t>
            </a:r>
            <a:r>
              <a:rPr lang="en-US" sz="1400" b="1" u="sng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fsp-draft.ru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411480" y="610819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Специальный трек ФСП · Лидеры цифровой трансформации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space/w/a10/docs/presentation/assets/logos_organiz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329184"/>
            <a:ext cx="4882896" cy="3383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01752"/>
            <a:ext cx="2382012" cy="402336"/>
          </a:xfrm>
          <a:prstGeom prst="roundRect">
            <a:avLst>
              <a:gd name="adj" fmla="val 27273"/>
            </a:avLst>
          </a:prstGeom>
          <a:solidFill>
            <a:srgbClr val="EC1D35"/>
          </a:solidFill>
          <a:ln w="12700">
            <a:solidFill>
              <a:srgbClr val="EC1D35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301752"/>
            <a:ext cx="23820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 КОМАНДЕ И РЕШЕНИИ</a:t>
            </a:r>
            <a:endParaRPr lang="en-US" sz="1100" dirty="0"/>
          </a:p>
        </p:txBody>
      </p:sp>
      <p:pic>
        <p:nvPicPr>
          <p:cNvPr id="5" name="Image 1" descr="/home/user/workspace/w/a10/docs/presentation/assets/logo_fs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400800"/>
            <a:ext cx="2167128" cy="2743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743200" y="6400800"/>
            <a:ext cx="18288" cy="274320"/>
          </a:xfrm>
          <a:prstGeom prst="rect">
            <a:avLst/>
          </a:prstGeom>
          <a:solidFill>
            <a:srgbClr val="9EA3D9"/>
          </a:solidFill>
          <a:ln w="12700">
            <a:solidFill>
              <a:srgbClr val="9EA3D9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880360" y="6355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Драфт</a:t>
            </a:r>
            <a:r>
              <a:rPr lang="en-US" sz="110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fsp-draft.ru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1247120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11480" y="868680"/>
            <a:ext cx="11338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Команда Neuropeople и решение «Драфт»</a:t>
            </a:r>
            <a:endParaRPr lang="en-US" sz="2600" dirty="0"/>
          </a:p>
        </p:txBody>
      </p:sp>
      <p:sp>
        <p:nvSpPr>
          <p:cNvPr id="10" name="Shape 6"/>
          <p:cNvSpPr/>
          <p:nvPr/>
        </p:nvSpPr>
        <p:spPr>
          <a:xfrm>
            <a:off x="411480" y="1600200"/>
            <a:ext cx="5074920" cy="4160520"/>
          </a:xfrm>
          <a:prstGeom prst="roundRect">
            <a:avLst>
              <a:gd name="adj" fmla="val 3077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4008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 команде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40080" y="2185416"/>
            <a:ext cx="384048" cy="45720"/>
          </a:xfrm>
          <a:prstGeom prst="rect">
            <a:avLst/>
          </a:prstGeom>
          <a:solidFill>
            <a:srgbClr val="EC1D35"/>
          </a:solidFill>
          <a:ln w="12700">
            <a:solidFill>
              <a:srgbClr val="EC1D35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40080" y="2395728"/>
            <a:ext cx="4663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Капитан: </a:t>
            </a:r>
            <a:r>
              <a:rPr lang="en-US" sz="135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Михеев Денис Геннадьевич, генеральный директор NeuroPeople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Количество участников: </a:t>
            </a:r>
            <a:r>
              <a:rPr lang="en-US" sz="135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человека</a:t>
            </a:r>
            <a:endParaRPr lang="en-US" sz="13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Краткое описание: </a:t>
            </a:r>
            <a:r>
              <a:rPr lang="en-US" sz="135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NeuroPeople делает нейросотрудников — ИИ, который выполняет работу специалиста от начала до конца; первый продукт на рынке — «Ноэма», нейропсихолог</a:t>
            </a:r>
            <a:endParaRPr lang="en-US" sz="1350" dirty="0"/>
          </a:p>
          <a:p>
            <a:pPr lvl="1" marL="355600" indent="-1778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место работы участников: NeuroPeople — оператор платформы «Драфт»</a:t>
            </a:r>
            <a:endParaRPr lang="en-US" sz="13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Город и регион: </a:t>
            </a:r>
            <a:r>
              <a:rPr lang="en-US" sz="135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Москва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669280" y="1600200"/>
            <a:ext cx="6080760" cy="2286000"/>
          </a:xfrm>
          <a:prstGeom prst="roundRect">
            <a:avLst>
              <a:gd name="adj" fmla="val 56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897880" y="178308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Краткое описание решения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5897880" y="2185416"/>
            <a:ext cx="384048" cy="45720"/>
          </a:xfrm>
          <a:prstGeom prst="rect">
            <a:avLst/>
          </a:prstGeom>
          <a:solidFill>
            <a:srgbClr val="EC1D35"/>
          </a:solidFill>
          <a:ln w="12700">
            <a:solidFill>
              <a:srgbClr val="EC1D3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897880" y="233172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«Драфт» — платформа подбора ИТ-специалистов с обратной механикой. Кандидат проходит адаптивный тест и получает подтверждённый грейд. Работодатель описывает потребность текстом или голосом ИИ-проводнику Насте, видит подборку только из проверенных и сам приходит к кандидату с приглашением и обязательной зарплатной вилкой. Достижения ФСП — из официальных протоколов, в карточке со ссылкой.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5669280" y="4023360"/>
            <a:ext cx="6080760" cy="1737360"/>
          </a:xfrm>
          <a:prstGeom prst="roundRect">
            <a:avLst>
              <a:gd name="adj" fmla="val 7368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897880" y="41605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Уникальность решения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5897880" y="4562856"/>
            <a:ext cx="384048" cy="45720"/>
          </a:xfrm>
          <a:prstGeom prst="rect">
            <a:avLst/>
          </a:prstGeom>
          <a:solidFill>
            <a:srgbClr val="EC1D35"/>
          </a:solidFill>
          <a:ln w="12700">
            <a:solidFill>
              <a:srgbClr val="EC1D35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897880" y="4681728"/>
            <a:ext cx="56692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уровень ставит тест, а не резюме</a:t>
            </a:r>
            <a:endParaRPr lang="en-US" sz="11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каждая цифра — в двух колонках: стандартные условия и проверка на прочность; протокол и хэш — до прогона, прогон один</a:t>
            </a:r>
            <a:endParaRPr lang="en-US" sz="1100" dirty="0"/>
          </a:p>
          <a:p>
            <a:pPr marL="177800" indent="-1778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ИИ-проводник голосом ведёт по продукту и проводит устный этап теста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кабинет ФСП: спрос работодателей, карта талантов, протоколы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space/w/a10/docs/presentation/assets/logos_organiz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329184"/>
            <a:ext cx="4882896" cy="3383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01752"/>
            <a:ext cx="1330452" cy="402336"/>
          </a:xfrm>
          <a:prstGeom prst="roundRect">
            <a:avLst>
              <a:gd name="adj" fmla="val 27273"/>
            </a:avLst>
          </a:prstGeom>
          <a:solidFill>
            <a:srgbClr val="EC1D35"/>
          </a:solidFill>
          <a:ln w="12700">
            <a:solidFill>
              <a:srgbClr val="EC1D35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301752"/>
            <a:ext cx="13304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УЧАСТНИКИ</a:t>
            </a:r>
            <a:endParaRPr lang="en-US" sz="1100" dirty="0"/>
          </a:p>
        </p:txBody>
      </p:sp>
      <p:pic>
        <p:nvPicPr>
          <p:cNvPr id="5" name="Image 1" descr="/home/user/workspace/w/a10/docs/presentation/assets/logo_fs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400800"/>
            <a:ext cx="2167128" cy="2743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743200" y="6400800"/>
            <a:ext cx="18288" cy="274320"/>
          </a:xfrm>
          <a:prstGeom prst="rect">
            <a:avLst/>
          </a:prstGeom>
          <a:solidFill>
            <a:srgbClr val="9EA3D9"/>
          </a:solidFill>
          <a:ln w="12700">
            <a:solidFill>
              <a:srgbClr val="9EA3D9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880360" y="6355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Драфт</a:t>
            </a:r>
            <a:r>
              <a:rPr lang="en-US" sz="110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fsp-draft.ru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1247120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11480" y="868680"/>
            <a:ext cx="11338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Участники команды</a:t>
            </a:r>
            <a:endParaRPr lang="en-US" sz="2600" dirty="0"/>
          </a:p>
        </p:txBody>
      </p:sp>
      <p:sp>
        <p:nvSpPr>
          <p:cNvPr id="10" name="Shape 6"/>
          <p:cNvSpPr/>
          <p:nvPr/>
        </p:nvSpPr>
        <p:spPr>
          <a:xfrm>
            <a:off x="411480" y="1645920"/>
            <a:ext cx="5554980" cy="3977640"/>
          </a:xfrm>
          <a:prstGeom prst="roundRect">
            <a:avLst>
              <a:gd name="adj" fmla="val 3218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pic>
        <p:nvPicPr>
          <p:cNvPr id="11" name="Image 2" descr="/home/user/workspace/w/a10/docs/presentation/assets/team_mikheev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874520"/>
            <a:ext cx="2651760" cy="24782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566160" y="1847088"/>
            <a:ext cx="21717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Михеев Денис Геннадьевич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3566160" y="2468880"/>
            <a:ext cx="384048" cy="45720"/>
          </a:xfrm>
          <a:prstGeom prst="rect">
            <a:avLst/>
          </a:prstGeom>
          <a:solidFill>
            <a:srgbClr val="EC1D35"/>
          </a:solidFill>
          <a:ln w="12700">
            <a:solidFill>
              <a:srgbClr val="EC1D35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3566160" y="2606040"/>
            <a:ext cx="21717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Роль в команде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3566160" y="2834640"/>
            <a:ext cx="21717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капитан, руководитель проекта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3566160" y="3337560"/>
            <a:ext cx="21717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Ник в мессенджере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3566160" y="3566160"/>
            <a:ext cx="21717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@den_kot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3566160" y="4069080"/>
            <a:ext cx="21717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Номер телефона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3566160" y="4297680"/>
            <a:ext cx="21717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+7 926 725-55-34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3566160" y="4800600"/>
            <a:ext cx="21717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Место работы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3566160" y="5029200"/>
            <a:ext cx="21717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NeuroPeople, генеральный директор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195060" y="1645920"/>
            <a:ext cx="5554980" cy="3977640"/>
          </a:xfrm>
          <a:prstGeom prst="roundRect">
            <a:avLst>
              <a:gd name="adj" fmla="val 3218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pic>
        <p:nvPicPr>
          <p:cNvPr id="23" name="Image 3" descr="/home/user/workspace/w/a10/docs/presentation/assets/team_kuznetsov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3660" y="1874520"/>
            <a:ext cx="2651760" cy="24782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349740" y="1847088"/>
            <a:ext cx="21717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Кузнецов Дмитрий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9349740" y="2468880"/>
            <a:ext cx="384048" cy="45720"/>
          </a:xfrm>
          <a:prstGeom prst="rect">
            <a:avLst/>
          </a:prstGeom>
          <a:solidFill>
            <a:srgbClr val="EC1D35"/>
          </a:solidFill>
          <a:ln w="12700">
            <a:solidFill>
              <a:srgbClr val="EC1D35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9349740" y="2606040"/>
            <a:ext cx="21717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Роль в команде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9349740" y="2834640"/>
            <a:ext cx="21717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инженер по качеству и внедрению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9349740" y="3337560"/>
            <a:ext cx="21717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Ник в мессенджере</a:t>
            </a:r>
            <a:endParaRPr lang="en-US" sz="950" dirty="0"/>
          </a:p>
        </p:txBody>
      </p:sp>
      <p:sp>
        <p:nvSpPr>
          <p:cNvPr id="29" name="Text 23"/>
          <p:cNvSpPr/>
          <p:nvPr/>
        </p:nvSpPr>
        <p:spPr>
          <a:xfrm>
            <a:off x="9349740" y="3566160"/>
            <a:ext cx="21717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@dmkuznetsoff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9349740" y="4069080"/>
            <a:ext cx="21717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Номер телефона</a:t>
            </a:r>
            <a:endParaRPr lang="en-US" sz="950" dirty="0"/>
          </a:p>
        </p:txBody>
      </p:sp>
      <p:sp>
        <p:nvSpPr>
          <p:cNvPr id="31" name="Text 25"/>
          <p:cNvSpPr/>
          <p:nvPr/>
        </p:nvSpPr>
        <p:spPr>
          <a:xfrm>
            <a:off x="9349740" y="4297680"/>
            <a:ext cx="21717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+7 981 170-19-87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9349740" y="4800600"/>
            <a:ext cx="21717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Место работы</a:t>
            </a:r>
            <a:endParaRPr lang="en-US" sz="950" dirty="0"/>
          </a:p>
        </p:txBody>
      </p:sp>
      <p:sp>
        <p:nvSpPr>
          <p:cNvPr id="33" name="Text 27"/>
          <p:cNvSpPr/>
          <p:nvPr/>
        </p:nvSpPr>
        <p:spPr>
          <a:xfrm>
            <a:off x="9349740" y="5029200"/>
            <a:ext cx="21717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NeuroPeople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space/w/a10/docs/presentation/assets/logos_organiz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329184"/>
            <a:ext cx="4882896" cy="3383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01752"/>
            <a:ext cx="2066544" cy="402336"/>
          </a:xfrm>
          <a:prstGeom prst="roundRect">
            <a:avLst>
              <a:gd name="adj" fmla="val 27273"/>
            </a:avLst>
          </a:prstGeom>
          <a:solidFill>
            <a:srgbClr val="EC1D35"/>
          </a:solidFill>
          <a:ln w="12700">
            <a:solidFill>
              <a:srgbClr val="EC1D35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301752"/>
            <a:ext cx="2066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ИСТОРИЯ И ВЫЗОВЫ</a:t>
            </a:r>
            <a:endParaRPr lang="en-US" sz="1100" dirty="0"/>
          </a:p>
        </p:txBody>
      </p:sp>
      <p:pic>
        <p:nvPicPr>
          <p:cNvPr id="5" name="Image 1" descr="/home/user/workspace/w/a10/docs/presentation/assets/logo_fs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400800"/>
            <a:ext cx="2167128" cy="2743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743200" y="6400800"/>
            <a:ext cx="18288" cy="274320"/>
          </a:xfrm>
          <a:prstGeom prst="rect">
            <a:avLst/>
          </a:prstGeom>
          <a:solidFill>
            <a:srgbClr val="9EA3D9"/>
          </a:solidFill>
          <a:ln w="12700">
            <a:solidFill>
              <a:srgbClr val="9EA3D9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880360" y="6355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Драфт</a:t>
            </a:r>
            <a:r>
              <a:rPr lang="en-US" sz="110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fsp-draft.ru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1247120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11480" y="868680"/>
            <a:ext cx="11338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История команды, выбор задачи и сложности</a:t>
            </a:r>
            <a:endParaRPr lang="en-US" sz="2600" dirty="0"/>
          </a:p>
        </p:txBody>
      </p:sp>
      <p:sp>
        <p:nvSpPr>
          <p:cNvPr id="10" name="Shape 6"/>
          <p:cNvSpPr/>
          <p:nvPr/>
        </p:nvSpPr>
        <p:spPr>
          <a:xfrm>
            <a:off x="411480" y="1463040"/>
            <a:ext cx="11338560" cy="0"/>
          </a:xfrm>
          <a:prstGeom prst="line">
            <a:avLst/>
          </a:prstGeom>
          <a:noFill/>
          <a:ln w="12700">
            <a:solidFill>
              <a:srgbClr val="EC1D35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0835640" y="153619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C1D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11480" y="15361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Краткая история команды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11480" y="1856232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Мы делаем нейросотрудников — ИИ, который берёт работу специалиста целиком. Первый из них, «Ноэма», уже разговаривает с пользователями. Каждый день мы решаем задачу: как проверить, что исполнитель умеет заявленное. В «Драфте» мы решили её для ИТ-найма.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11480" y="2560320"/>
            <a:ext cx="11338560" cy="0"/>
          </a:xfrm>
          <a:prstGeom prst="line">
            <a:avLst/>
          </a:prstGeom>
          <a:noFill/>
          <a:ln w="12700">
            <a:solidFill>
              <a:srgbClr val="EC1D35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0835640" y="263347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C1D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11480" y="2633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Почему мы выбрали эту задачу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11480" y="2953512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Эту задачу не решить красивым интерфейсом: нужно доказать, что тест измеряет уровень, а подбор находит тех, кто справится. Так мы проверяем и своих нейросотрудников: сможет ли небольшая команда с ними за неделю сделать продукт уровня большой компании.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411480" y="3657600"/>
            <a:ext cx="11338560" cy="0"/>
          </a:xfrm>
          <a:prstGeom prst="line">
            <a:avLst/>
          </a:prstGeom>
          <a:noFill/>
          <a:ln w="12700">
            <a:solidFill>
              <a:srgbClr val="EC1D35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10835640" y="37307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C1D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411480" y="37307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Основные сложности и как мы с ними справились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411480" y="4133088"/>
            <a:ext cx="2157984" cy="1664208"/>
          </a:xfrm>
          <a:prstGeom prst="roundRect">
            <a:avLst>
              <a:gd name="adj" fmla="val 769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76072" y="4297680"/>
            <a:ext cx="384048" cy="54864"/>
          </a:xfrm>
          <a:prstGeom prst="rect">
            <a:avLst/>
          </a:prstGeom>
          <a:solidFill>
            <a:srgbClr val="EC1D35"/>
          </a:solidFill>
          <a:ln w="12700">
            <a:solidFill>
              <a:srgbClr val="EC1D35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76072" y="4425696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Честная проверка качества без людей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576072" y="5010912"/>
            <a:ext cx="1865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модельные кандидаты, не люди; протокол и хэш данных — до прогона; один прогон на отложенных мирах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2706624" y="4133088"/>
            <a:ext cx="2157984" cy="1664208"/>
          </a:xfrm>
          <a:prstGeom prst="roundRect">
            <a:avLst>
              <a:gd name="adj" fmla="val 769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2871216" y="4297680"/>
            <a:ext cx="384048" cy="54864"/>
          </a:xfrm>
          <a:prstGeom prst="rect">
            <a:avLst/>
          </a:prstGeom>
          <a:solidFill>
            <a:srgbClr val="A59DFF"/>
          </a:solidFill>
          <a:ln w="12700">
            <a:solidFill>
              <a:srgbClr val="A59DF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2871216" y="4425696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Голосовой ИИ-проводник в реальном времени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2871216" y="5010912"/>
            <a:ext cx="1865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задержки ответа, естественность речи, устный этап теста тем же голосом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5001768" y="4133088"/>
            <a:ext cx="2157984" cy="1664208"/>
          </a:xfrm>
          <a:prstGeom prst="roundRect">
            <a:avLst>
              <a:gd name="adj" fmla="val 769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5166360" y="4297680"/>
            <a:ext cx="384048" cy="54864"/>
          </a:xfrm>
          <a:prstGeom prst="rect">
            <a:avLst/>
          </a:prstGeom>
          <a:solidFill>
            <a:srgbClr val="4BE3A3"/>
          </a:solidFill>
          <a:ln w="12700">
            <a:solidFill>
              <a:srgbClr val="4BE3A3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166360" y="4425696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Распознавание протоколов ФСП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5166360" y="5010912"/>
            <a:ext cx="1865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 индексе 18 официальных протоколов и 2 908 результатов спортсменов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7296912" y="4133088"/>
            <a:ext cx="2157984" cy="1664208"/>
          </a:xfrm>
          <a:prstGeom prst="roundRect">
            <a:avLst>
              <a:gd name="adj" fmla="val 769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7461504" y="4297680"/>
            <a:ext cx="384048" cy="54864"/>
          </a:xfrm>
          <a:prstGeom prst="rect">
            <a:avLst/>
          </a:prstGeom>
          <a:solidFill>
            <a:srgbClr val="402FFF"/>
          </a:solidFill>
          <a:ln w="12700">
            <a:solidFill>
              <a:srgbClr val="402FFF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7461504" y="4425696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Адаптивный тест с античитом</a:t>
            </a:r>
            <a:endParaRPr lang="en-US" sz="1100" dirty="0"/>
          </a:p>
        </p:txBody>
      </p:sp>
      <p:sp>
        <p:nvSpPr>
          <p:cNvPr id="36" name="Text 32"/>
          <p:cNvSpPr/>
          <p:nvPr/>
        </p:nvSpPr>
        <p:spPr>
          <a:xfrm>
            <a:off x="7461504" y="5010912"/>
            <a:ext cx="1865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видов сигналов честности — 21; при подозрении — дополнительная проверка, без автоблокировок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9592056" y="4133088"/>
            <a:ext cx="2157984" cy="1664208"/>
          </a:xfrm>
          <a:prstGeom prst="roundRect">
            <a:avLst>
              <a:gd name="adj" fmla="val 769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9756648" y="4297680"/>
            <a:ext cx="384048" cy="54864"/>
          </a:xfrm>
          <a:prstGeom prst="rect">
            <a:avLst/>
          </a:prstGeom>
          <a:solidFill>
            <a:srgbClr val="FF8A98"/>
          </a:solidFill>
          <a:ln w="12700">
            <a:solidFill>
              <a:srgbClr val="FF8A98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9756648" y="4425696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Сильные модели за рубежом, данные — в Москве</a:t>
            </a:r>
            <a:endParaRPr lang="en-US" sz="1100" dirty="0"/>
          </a:p>
        </p:txBody>
      </p:sp>
      <p:sp>
        <p:nvSpPr>
          <p:cNvPr id="40" name="Text 36"/>
          <p:cNvSpPr/>
          <p:nvPr/>
        </p:nvSpPr>
        <p:spPr>
          <a:xfrm>
            <a:off x="9756648" y="5010912"/>
            <a:ext cx="1865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личные данные вырезаются до отправки</a:t>
            </a:r>
            <a:endParaRPr lang="en-US" sz="950" dirty="0"/>
          </a:p>
        </p:txBody>
      </p:sp>
      <p:sp>
        <p:nvSpPr>
          <p:cNvPr id="41" name="Text 37"/>
          <p:cNvSpPr/>
          <p:nvPr/>
        </p:nvSpPr>
        <p:spPr>
          <a:xfrm>
            <a:off x="411480" y="5870448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EA3D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Цифры — docs/NUMBERS.json: fsp_protocols.index.documents, fsp_protocols.index.results, anticheat.proctoring_signals_total.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space/w/a10/docs/presentation/assets/logos_organiz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329184"/>
            <a:ext cx="4882896" cy="3383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01752"/>
            <a:ext cx="2171700" cy="402336"/>
          </a:xfrm>
          <a:prstGeom prst="roundRect">
            <a:avLst>
              <a:gd name="adj" fmla="val 27273"/>
            </a:avLst>
          </a:prstGeom>
          <a:solidFill>
            <a:srgbClr val="EC1D35"/>
          </a:solidFill>
          <a:ln w="12700">
            <a:solidFill>
              <a:srgbClr val="EC1D35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301752"/>
            <a:ext cx="21717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КОРОТКО О РЕШЕНИИ</a:t>
            </a:r>
            <a:endParaRPr lang="en-US" sz="1100" dirty="0"/>
          </a:p>
        </p:txBody>
      </p:sp>
      <p:pic>
        <p:nvPicPr>
          <p:cNvPr id="5" name="Image 1" descr="/home/user/workspace/w/a10/docs/presentation/assets/logo_fs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400800"/>
            <a:ext cx="2167128" cy="2743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743200" y="6400800"/>
            <a:ext cx="18288" cy="274320"/>
          </a:xfrm>
          <a:prstGeom prst="rect">
            <a:avLst/>
          </a:prstGeom>
          <a:solidFill>
            <a:srgbClr val="9EA3D9"/>
          </a:solidFill>
          <a:ln w="12700">
            <a:solidFill>
              <a:srgbClr val="9EA3D9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880360" y="6355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Драфт</a:t>
            </a:r>
            <a:r>
              <a:rPr lang="en-US" sz="110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fsp-draft.ru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1247120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11480" y="868680"/>
            <a:ext cx="11338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Техническая и маркетинговая суть решения</a:t>
            </a:r>
            <a:endParaRPr lang="en-US" sz="2600" dirty="0"/>
          </a:p>
        </p:txBody>
      </p:sp>
      <p:sp>
        <p:nvSpPr>
          <p:cNvPr id="10" name="Shape 6"/>
          <p:cNvSpPr/>
          <p:nvPr/>
        </p:nvSpPr>
        <p:spPr>
          <a:xfrm>
            <a:off x="411480" y="1600200"/>
            <a:ext cx="5577840" cy="4160520"/>
          </a:xfrm>
          <a:prstGeom prst="roundRect">
            <a:avLst>
              <a:gd name="adj" fmla="val 3077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40080" y="1783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Техническая суть решения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40080" y="2185416"/>
            <a:ext cx="384048" cy="45720"/>
          </a:xfrm>
          <a:prstGeom prst="rect">
            <a:avLst/>
          </a:prstGeom>
          <a:solidFill>
            <a:srgbClr val="EC1D35"/>
          </a:solidFill>
          <a:ln w="12700">
            <a:solidFill>
              <a:srgbClr val="EC1D35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40080" y="2423160"/>
            <a:ext cx="51206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Стек: </a:t>
            </a:r>
            <a:r>
              <a:rPr lang="en-US" sz="125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FastAPI и PostgreSQL, React и TypeScript, Docker Compose — запуск одной командой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Адаптивный тест: </a:t>
            </a:r>
            <a:r>
              <a:rPr lang="en-US" sz="125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IRT, последовательное правило SPRT, второй этап у границы грейда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Банк: </a:t>
            </a:r>
            <a:r>
              <a:rPr lang="en-US" sz="125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1 646 семейств заданий; код проверяется тестами на сервере, ключи в браузер не уходят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Подбор по подтверждённым фактам (LTR): </a:t>
            </a:r>
            <a:r>
              <a:rPr lang="en-US" sz="125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точность первой пятёрки 77,1 % в стандартных условиях и 75,9 % в проверке на прочность; у каждой карточки — «почему выше»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Индекс протоколов ФСП: </a:t>
            </a:r>
            <a:r>
              <a:rPr lang="en-US" sz="125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 протоколов, 2 908 результатов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ИИ-проводник «Настя»: </a:t>
            </a:r>
            <a:r>
              <a:rPr lang="en-US" sz="125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речь ↔ речь, живой аватар; ведёт по продукту и проводит устный этап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172200" y="1600200"/>
            <a:ext cx="5577840" cy="4160520"/>
          </a:xfrm>
          <a:prstGeom prst="roundRect">
            <a:avLst>
              <a:gd name="adj" fmla="val 3077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00800" y="1783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Маркетинговая суть решения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6400800" y="2185416"/>
            <a:ext cx="384048" cy="45720"/>
          </a:xfrm>
          <a:prstGeom prst="rect">
            <a:avLst/>
          </a:prstGeom>
          <a:solidFill>
            <a:srgbClr val="EC1D35"/>
          </a:solidFill>
          <a:ln w="12700">
            <a:solidFill>
              <a:srgbClr val="EC1D3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400800" y="2423160"/>
            <a:ext cx="51206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Модель: </a:t>
            </a:r>
            <a:r>
              <a:rPr lang="en-US" sz="125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кандидатам — бесплатно, работодатели платят за подтверждённый найм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Партнёрство с ФСП: </a:t>
            </a:r>
            <a:r>
              <a:rPr lang="en-US" sz="125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канал к работодателям и региональным представительствам федерации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Интеграции: </a:t>
            </a:r>
            <a:r>
              <a:rPr lang="en-US" sz="125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hh.ru и ATS работодателя — без смены привычных инструментов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План: </a:t>
            </a:r>
            <a:r>
              <a:rPr lang="en-US" sz="125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калибровка заданий на ответах людей — в плане, не проведена: 300–500 участников, 6–8 недель, протокол — до начала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Дальше: </a:t>
            </a:r>
            <a:r>
              <a:rPr lang="en-US" sz="125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практические задания на языке стека кандидата — Java, Kotlin, Go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411480" y="5870448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EA3D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Цифры — docs/NUMBERS.json: bank.families; matching.p5 и matching.hard.p5 (модельные кандидаты, не люди); fsp_protocols.index.documents и .results.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space/w/a10/docs/presentation/assets/logos_organiz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329184"/>
            <a:ext cx="4882896" cy="3383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01752"/>
            <a:ext cx="1225296" cy="402336"/>
          </a:xfrm>
          <a:prstGeom prst="roundRect">
            <a:avLst>
              <a:gd name="adj" fmla="val 27273"/>
            </a:avLst>
          </a:prstGeom>
          <a:solidFill>
            <a:srgbClr val="EC1D35"/>
          </a:solidFill>
          <a:ln w="12700">
            <a:solidFill>
              <a:srgbClr val="EC1D35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301752"/>
            <a:ext cx="1225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ПРОБЛЕМА</a:t>
            </a:r>
            <a:endParaRPr lang="en-US" sz="1100" dirty="0"/>
          </a:p>
        </p:txBody>
      </p:sp>
      <p:pic>
        <p:nvPicPr>
          <p:cNvPr id="5" name="Image 1" descr="/home/user/workspace/w/a10/docs/presentation/assets/logo_fs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400800"/>
            <a:ext cx="2167128" cy="2743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743200" y="6400800"/>
            <a:ext cx="18288" cy="274320"/>
          </a:xfrm>
          <a:prstGeom prst="rect">
            <a:avLst/>
          </a:prstGeom>
          <a:solidFill>
            <a:srgbClr val="9EA3D9"/>
          </a:solidFill>
          <a:ln w="12700">
            <a:solidFill>
              <a:srgbClr val="9EA3D9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880360" y="6355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Драфт</a:t>
            </a:r>
            <a:r>
              <a:rPr lang="en-US" sz="110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fsp-draft.ru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1247120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11480" y="868680"/>
            <a:ext cx="11338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Резюме пишут все.</a:t>
            </a:r>
            <a:endParaRPr lang="en-US" sz="3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Доказательств в нём нет</a:t>
            </a:r>
            <a:endParaRPr lang="en-US" sz="3400" dirty="0"/>
          </a:p>
        </p:txBody>
      </p:sp>
      <p:pic>
        <p:nvPicPr>
          <p:cNvPr id="10" name="Image 2" descr="/home/user/workspace/w/a10/docs/presentation/assets/deco_cub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868680"/>
            <a:ext cx="2194560" cy="219456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411480" y="2743200"/>
            <a:ext cx="3611880" cy="2651760"/>
          </a:xfrm>
          <a:prstGeom prst="roundRect">
            <a:avLst>
              <a:gd name="adj" fmla="val 4828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612648" y="2962656"/>
            <a:ext cx="384048" cy="54864"/>
          </a:xfrm>
          <a:prstGeom prst="rect">
            <a:avLst/>
          </a:prstGeom>
          <a:solidFill>
            <a:srgbClr val="EC1D35"/>
          </a:solidFill>
          <a:ln w="12700">
            <a:solidFill>
              <a:srgbClr val="EC1D35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612648" y="3090672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Компания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612648" y="3547872"/>
            <a:ext cx="3209544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Сотни откликов вручную, навыки ничем не подтверждены. Ошибка найма стоит месяцы.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4224528" y="2743200"/>
            <a:ext cx="3611880" cy="2651760"/>
          </a:xfrm>
          <a:prstGeom prst="roundRect">
            <a:avLst>
              <a:gd name="adj" fmla="val 4828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425696" y="2962656"/>
            <a:ext cx="384048" cy="54864"/>
          </a:xfrm>
          <a:prstGeom prst="rect">
            <a:avLst/>
          </a:prstGeom>
          <a:solidFill>
            <a:srgbClr val="A59DFF"/>
          </a:solidFill>
          <a:ln w="12700">
            <a:solidFill>
              <a:srgbClr val="A59DFF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425696" y="3090672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Кандидат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4425696" y="3547872"/>
            <a:ext cx="3209544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Откликается вслепую: зарплату и условия узнаёт только на собеседовании.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8037576" y="2743200"/>
            <a:ext cx="3611880" cy="2651760"/>
          </a:xfrm>
          <a:prstGeom prst="roundRect">
            <a:avLst>
              <a:gd name="adj" fmla="val 4828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238744" y="2962656"/>
            <a:ext cx="384048" cy="54864"/>
          </a:xfrm>
          <a:prstGeom prst="rect">
            <a:avLst/>
          </a:prstGeom>
          <a:solidFill>
            <a:srgbClr val="4BE3A3"/>
          </a:solidFill>
          <a:ln w="12700">
            <a:solidFill>
              <a:srgbClr val="4BE3A3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8238744" y="3090672"/>
            <a:ext cx="3209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Федерация ФСП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8238744" y="3547872"/>
            <a:ext cx="3209544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Объективные результаты спортсменов есть — канала к работодателям нет.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space/w/a10/docs/presentation/assets/logos_organiz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329184"/>
            <a:ext cx="4882896" cy="3383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01752"/>
            <a:ext cx="1120140" cy="402336"/>
          </a:xfrm>
          <a:prstGeom prst="roundRect">
            <a:avLst>
              <a:gd name="adj" fmla="val 27273"/>
            </a:avLst>
          </a:prstGeom>
          <a:solidFill>
            <a:srgbClr val="EC1D35"/>
          </a:solidFill>
          <a:ln w="12700">
            <a:solidFill>
              <a:srgbClr val="EC1D35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301752"/>
            <a:ext cx="11201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РЕШЕНИЕ</a:t>
            </a:r>
            <a:endParaRPr lang="en-US" sz="1100" dirty="0"/>
          </a:p>
        </p:txBody>
      </p:sp>
      <p:pic>
        <p:nvPicPr>
          <p:cNvPr id="5" name="Image 1" descr="/home/user/workspace/w/a10/docs/presentation/assets/logo_fs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400800"/>
            <a:ext cx="2167128" cy="2743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743200" y="6400800"/>
            <a:ext cx="18288" cy="274320"/>
          </a:xfrm>
          <a:prstGeom prst="rect">
            <a:avLst/>
          </a:prstGeom>
          <a:solidFill>
            <a:srgbClr val="9EA3D9"/>
          </a:solidFill>
          <a:ln w="12700">
            <a:solidFill>
              <a:srgbClr val="9EA3D9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880360" y="6355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Драфт</a:t>
            </a:r>
            <a:r>
              <a:rPr lang="en-US" sz="110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fsp-draft.ru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1247120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11480" y="868680"/>
            <a:ext cx="11338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Обратный драфт: уровень ставит</a:t>
            </a:r>
            <a:endParaRPr lang="en-US" sz="3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только тест, компания приходит сама</a:t>
            </a:r>
            <a:endParaRPr lang="en-US" sz="3000" dirty="0"/>
          </a:p>
        </p:txBody>
      </p:sp>
      <p:sp>
        <p:nvSpPr>
          <p:cNvPr id="10" name="Shape 6"/>
          <p:cNvSpPr/>
          <p:nvPr/>
        </p:nvSpPr>
        <p:spPr>
          <a:xfrm>
            <a:off x="411480" y="2377440"/>
            <a:ext cx="2103120" cy="2743200"/>
          </a:xfrm>
          <a:prstGeom prst="roundRect">
            <a:avLst>
              <a:gd name="adj" fmla="val 6087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12648" y="2606040"/>
            <a:ext cx="502920" cy="502920"/>
          </a:xfrm>
          <a:prstGeom prst="ellipse">
            <a:avLst/>
          </a:prstGeom>
          <a:solidFill>
            <a:srgbClr val="EC1D35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12648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12648" y="32461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Тест вместо резюме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12648" y="40233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кандидат один раз подтверждает уровень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2514600" y="2852928"/>
            <a:ext cx="205740" cy="0"/>
          </a:xfrm>
          <a:prstGeom prst="line">
            <a:avLst/>
          </a:prstGeom>
          <a:noFill/>
          <a:ln w="19050">
            <a:solidFill>
              <a:srgbClr val="A59DFF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2720340" y="2377440"/>
            <a:ext cx="2103120" cy="2743200"/>
          </a:xfrm>
          <a:prstGeom prst="roundRect">
            <a:avLst>
              <a:gd name="adj" fmla="val 6087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921508" y="2606040"/>
            <a:ext cx="502920" cy="502920"/>
          </a:xfrm>
          <a:prstGeom prst="ellipse">
            <a:avLst/>
          </a:prstGeom>
          <a:solidFill>
            <a:srgbClr val="EC1D35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921508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2921508" y="32461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Категория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2921508" y="40233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«направление · грейд» — только по тесту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4823460" y="2852928"/>
            <a:ext cx="205740" cy="0"/>
          </a:xfrm>
          <a:prstGeom prst="line">
            <a:avLst/>
          </a:prstGeom>
          <a:noFill/>
          <a:ln w="19050">
            <a:solidFill>
              <a:srgbClr val="A59DFF"/>
            </a:solidFill>
            <a:prstDash val="solid"/>
            <a:tailEnd type="triangle"/>
          </a:ln>
        </p:spPr>
      </p:sp>
      <p:sp>
        <p:nvSpPr>
          <p:cNvPr id="22" name="Shape 18"/>
          <p:cNvSpPr/>
          <p:nvPr/>
        </p:nvSpPr>
        <p:spPr>
          <a:xfrm>
            <a:off x="5029200" y="2377440"/>
            <a:ext cx="2103120" cy="2743200"/>
          </a:xfrm>
          <a:prstGeom prst="roundRect">
            <a:avLst>
              <a:gd name="adj" fmla="val 6087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230368" y="2606040"/>
            <a:ext cx="502920" cy="502920"/>
          </a:xfrm>
          <a:prstGeom prst="ellipse">
            <a:avLst/>
          </a:prstGeom>
          <a:solidFill>
            <a:srgbClr val="402FFF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230368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5230368" y="32461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Задача своими словами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5230368" y="40233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компания пишет или надиктовывает потребность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7132320" y="2852928"/>
            <a:ext cx="205740" cy="0"/>
          </a:xfrm>
          <a:prstGeom prst="line">
            <a:avLst/>
          </a:prstGeom>
          <a:noFill/>
          <a:ln w="19050">
            <a:solidFill>
              <a:srgbClr val="A59DFF"/>
            </a:solidFill>
            <a:prstDash val="solid"/>
            <a:tailEnd type="triangle"/>
          </a:ln>
        </p:spPr>
      </p:sp>
      <p:sp>
        <p:nvSpPr>
          <p:cNvPr id="28" name="Shape 24"/>
          <p:cNvSpPr/>
          <p:nvPr/>
        </p:nvSpPr>
        <p:spPr>
          <a:xfrm>
            <a:off x="7338060" y="2377440"/>
            <a:ext cx="2103120" cy="2743200"/>
          </a:xfrm>
          <a:prstGeom prst="roundRect">
            <a:avLst>
              <a:gd name="adj" fmla="val 6087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7539228" y="2606040"/>
            <a:ext cx="502920" cy="502920"/>
          </a:xfrm>
          <a:prstGeom prst="ellipse">
            <a:avLst/>
          </a:prstGeom>
          <a:solidFill>
            <a:srgbClr val="402FFF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7539228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7"/>
          <p:cNvSpPr/>
          <p:nvPr/>
        </p:nvSpPr>
        <p:spPr>
          <a:xfrm>
            <a:off x="7539228" y="32461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Подборка с объяснением</a:t>
            </a:r>
            <a:endParaRPr lang="en-US" sz="1600" dirty="0"/>
          </a:p>
        </p:txBody>
      </p:sp>
      <p:sp>
        <p:nvSpPr>
          <p:cNvPr id="32" name="Text 28"/>
          <p:cNvSpPr/>
          <p:nvPr/>
        </p:nvSpPr>
        <p:spPr>
          <a:xfrm>
            <a:off x="7539228" y="40233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почему кандидат здесь и чем это подтверждено</a:t>
            </a:r>
            <a:endParaRPr lang="en-US" sz="1300" dirty="0"/>
          </a:p>
        </p:txBody>
      </p:sp>
      <p:sp>
        <p:nvSpPr>
          <p:cNvPr id="33" name="Shape 29"/>
          <p:cNvSpPr/>
          <p:nvPr/>
        </p:nvSpPr>
        <p:spPr>
          <a:xfrm>
            <a:off x="9441180" y="2852928"/>
            <a:ext cx="205740" cy="0"/>
          </a:xfrm>
          <a:prstGeom prst="line">
            <a:avLst/>
          </a:prstGeom>
          <a:noFill/>
          <a:ln w="19050">
            <a:solidFill>
              <a:srgbClr val="A59DFF"/>
            </a:solidFill>
            <a:prstDash val="solid"/>
            <a:tailEnd type="triangle"/>
          </a:ln>
        </p:spPr>
      </p:sp>
      <p:sp>
        <p:nvSpPr>
          <p:cNvPr id="34" name="Shape 30"/>
          <p:cNvSpPr/>
          <p:nvPr/>
        </p:nvSpPr>
        <p:spPr>
          <a:xfrm>
            <a:off x="9646920" y="2377440"/>
            <a:ext cx="2103120" cy="2743200"/>
          </a:xfrm>
          <a:prstGeom prst="roundRect">
            <a:avLst>
              <a:gd name="adj" fmla="val 6087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9848088" y="2606040"/>
            <a:ext cx="502920" cy="502920"/>
          </a:xfrm>
          <a:prstGeom prst="ellipse">
            <a:avLst/>
          </a:prstGeom>
          <a:solidFill>
            <a:srgbClr val="402FFF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9848088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600" dirty="0"/>
          </a:p>
        </p:txBody>
      </p:sp>
      <p:sp>
        <p:nvSpPr>
          <p:cNvPr id="37" name="Text 33"/>
          <p:cNvSpPr/>
          <p:nvPr/>
        </p:nvSpPr>
        <p:spPr>
          <a:xfrm>
            <a:off x="9848088" y="32461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Приглашение с вилкой</a:t>
            </a:r>
            <a:endParaRPr lang="en-US" sz="1600" dirty="0"/>
          </a:p>
        </p:txBody>
      </p:sp>
      <p:sp>
        <p:nvSpPr>
          <p:cNvPr id="38" name="Text 34"/>
          <p:cNvSpPr/>
          <p:nvPr/>
        </p:nvSpPr>
        <p:spPr>
          <a:xfrm>
            <a:off x="9848088" y="402336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зарплата обязательна, контакты — после согласия</a:t>
            </a:r>
            <a:endParaRPr lang="en-US" sz="1300" dirty="0"/>
          </a:p>
        </p:txBody>
      </p:sp>
      <p:sp>
        <p:nvSpPr>
          <p:cNvPr id="39" name="Text 35"/>
          <p:cNvSpPr/>
          <p:nvPr/>
        </p:nvSpPr>
        <p:spPr>
          <a:xfrm>
            <a:off x="411480" y="523036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A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КАНДИДАТ</a:t>
            </a:r>
            <a:endParaRPr lang="en-US" sz="1100" dirty="0"/>
          </a:p>
        </p:txBody>
      </p:sp>
      <p:sp>
        <p:nvSpPr>
          <p:cNvPr id="40" name="Text 36"/>
          <p:cNvSpPr/>
          <p:nvPr/>
        </p:nvSpPr>
        <p:spPr>
          <a:xfrm>
            <a:off x="5029200" y="5230368"/>
            <a:ext cx="6720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59D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РАБОТОДАТЕЛЬ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411480" y="5760720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EA3D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Резюме и заявленные навыки на место в подборке не влияют. Кандидат без истории ФСП ничего не теряет.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space/w/a10/docs/presentation/assets/logos_organiz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329184"/>
            <a:ext cx="4882896" cy="3383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01752"/>
            <a:ext cx="1645920" cy="402336"/>
          </a:xfrm>
          <a:prstGeom prst="roundRect">
            <a:avLst>
              <a:gd name="adj" fmla="val 27273"/>
            </a:avLst>
          </a:prstGeom>
          <a:solidFill>
            <a:srgbClr val="EC1D35"/>
          </a:solidFill>
          <a:ln w="12700">
            <a:solidFill>
              <a:srgbClr val="EC1D35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30175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ТЕСТИРОВАНИЕ</a:t>
            </a:r>
            <a:endParaRPr lang="en-US" sz="1100" dirty="0"/>
          </a:p>
        </p:txBody>
      </p:sp>
      <p:pic>
        <p:nvPicPr>
          <p:cNvPr id="5" name="Image 1" descr="/home/user/workspace/w/a10/docs/presentation/assets/logo_fs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400800"/>
            <a:ext cx="2167128" cy="2743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743200" y="6400800"/>
            <a:ext cx="18288" cy="274320"/>
          </a:xfrm>
          <a:prstGeom prst="rect">
            <a:avLst/>
          </a:prstGeom>
          <a:solidFill>
            <a:srgbClr val="9EA3D9"/>
          </a:solidFill>
          <a:ln w="12700">
            <a:solidFill>
              <a:srgbClr val="9EA3D9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880360" y="6355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Драфт</a:t>
            </a:r>
            <a:r>
              <a:rPr lang="en-US" sz="110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fsp-draft.ru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1247120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11480" y="868680"/>
            <a:ext cx="11338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Тест: свой вариант у каждого,</a:t>
            </a:r>
            <a:endParaRPr lang="en-US" sz="3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 финале — разговор с ИИ-аватаром</a:t>
            </a:r>
            <a:endParaRPr lang="en-US" sz="3000" dirty="0"/>
          </a:p>
        </p:txBody>
      </p:sp>
      <p:pic>
        <p:nvPicPr>
          <p:cNvPr id="10" name="Image 2" descr="/home/user/workspace/w/a10/docs/presentation/assets/deco_med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0" y="822960"/>
            <a:ext cx="2103120" cy="21031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11480" y="2011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1 646</a:t>
            </a:r>
            <a:endParaRPr lang="en-US" sz="3400" dirty="0"/>
          </a:p>
        </p:txBody>
      </p:sp>
      <p:sp>
        <p:nvSpPr>
          <p:cNvPr id="12" name="Text 7"/>
          <p:cNvSpPr/>
          <p:nvPr/>
        </p:nvSpPr>
        <p:spPr>
          <a:xfrm>
            <a:off x="411480" y="2578608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семейств заданий: генераторы, а не готовые вопросы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3383280" y="2011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32 896</a:t>
            </a:r>
            <a:endParaRPr lang="en-US" sz="3400" dirty="0"/>
          </a:p>
        </p:txBody>
      </p:sp>
      <p:sp>
        <p:nvSpPr>
          <p:cNvPr id="14" name="Text 9"/>
          <p:cNvSpPr/>
          <p:nvPr/>
        </p:nvSpPr>
        <p:spPr>
          <a:xfrm>
            <a:off x="3383280" y="2578608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уникальных вариантов на проверке банка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6355080" y="2011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</a:t>
            </a:r>
            <a:endParaRPr lang="en-US" sz="3400" dirty="0"/>
          </a:p>
        </p:txBody>
      </p:sp>
      <p:sp>
        <p:nvSpPr>
          <p:cNvPr id="16" name="Text 11"/>
          <p:cNvSpPr/>
          <p:nvPr/>
        </p:nvSpPr>
        <p:spPr>
          <a:xfrm>
            <a:off x="6355080" y="2578608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ошибок в ключах: варианты с кодом проверены исполнением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11480" y="3520440"/>
            <a:ext cx="2697480" cy="2148840"/>
          </a:xfrm>
          <a:prstGeom prst="roundRect">
            <a:avLst>
              <a:gd name="adj" fmla="val 5957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12648" y="3739896"/>
            <a:ext cx="384048" cy="54864"/>
          </a:xfrm>
          <a:prstGeom prst="rect">
            <a:avLst/>
          </a:prstGeom>
          <a:solidFill>
            <a:srgbClr val="EC1D35"/>
          </a:solidFill>
          <a:ln w="12700">
            <a:solidFill>
              <a:srgbClr val="EC1D35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612648" y="3867912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Адаптивный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12648" y="4325112"/>
            <a:ext cx="229514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Следующее задание — по прошлым ответам; тест останавливается, когда уверенности достаточно.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3273552" y="3520440"/>
            <a:ext cx="2697480" cy="2148840"/>
          </a:xfrm>
          <a:prstGeom prst="roundRect">
            <a:avLst>
              <a:gd name="adj" fmla="val 5957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3474720" y="3739896"/>
            <a:ext cx="384048" cy="54864"/>
          </a:xfrm>
          <a:prstGeom prst="rect">
            <a:avLst/>
          </a:prstGeom>
          <a:solidFill>
            <a:srgbClr val="A59DFF"/>
          </a:solidFill>
          <a:ln w="12700">
            <a:solidFill>
              <a:srgbClr val="A59DFF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3474720" y="3867912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Свои задания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3474720" y="4325112"/>
            <a:ext cx="229514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Вариант собирается для кандидата; слив почти не помогает, ключи — только на сервере.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6135624" y="3520440"/>
            <a:ext cx="2697480" cy="2148840"/>
          </a:xfrm>
          <a:prstGeom prst="roundRect">
            <a:avLst>
              <a:gd name="adj" fmla="val 5957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336792" y="3739896"/>
            <a:ext cx="384048" cy="54864"/>
          </a:xfrm>
          <a:prstGeom prst="rect">
            <a:avLst/>
          </a:prstGeom>
          <a:solidFill>
            <a:srgbClr val="4BE3A3"/>
          </a:solidFill>
          <a:ln w="12700">
            <a:solidFill>
              <a:srgbClr val="4BE3A3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336792" y="3867912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Три исхода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336792" y="4325112"/>
            <a:ext cx="229514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Подтверждён · не подтверждён · у самой границы — короткий второй этап вместо угадывания.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8997696" y="3520440"/>
            <a:ext cx="2697480" cy="2148840"/>
          </a:xfrm>
          <a:prstGeom prst="roundRect">
            <a:avLst>
              <a:gd name="adj" fmla="val 5957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9198864" y="3739896"/>
            <a:ext cx="384048" cy="54864"/>
          </a:xfrm>
          <a:prstGeom prst="rect">
            <a:avLst/>
          </a:prstGeom>
          <a:solidFill>
            <a:srgbClr val="402FFF"/>
          </a:solidFill>
          <a:ln w="12700">
            <a:solidFill>
              <a:srgbClr val="402FFF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9198864" y="3867912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Финальный разговор</a:t>
            </a:r>
            <a:endParaRPr lang="en-US" sz="1500" dirty="0"/>
          </a:p>
        </p:txBody>
      </p:sp>
      <p:sp>
        <p:nvSpPr>
          <p:cNvPr id="32" name="Text 27"/>
          <p:cNvSpPr/>
          <p:nvPr/>
        </p:nvSpPr>
        <p:spPr>
          <a:xfrm>
            <a:off x="9198864" y="4325112"/>
            <a:ext cx="229514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ИИ-аватар голосом спрашивает кандидата о его же решениях — дополнительная проверка.</a:t>
            </a:r>
            <a:endParaRPr lang="en-US" sz="1200" dirty="0"/>
          </a:p>
        </p:txBody>
      </p:sp>
      <p:sp>
        <p:nvSpPr>
          <p:cNvPr id="33" name="Text 28"/>
          <p:cNvSpPr/>
          <p:nvPr/>
        </p:nvSpPr>
        <p:spPr>
          <a:xfrm>
            <a:off x="411480" y="5806440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EA3D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Метод — байесовская последовательная классификация с остановкой по SPRT.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space/w/a10/docs/presentation/assets/logos_organiz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329184"/>
            <a:ext cx="4882896" cy="3383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01752"/>
            <a:ext cx="1014984" cy="402336"/>
          </a:xfrm>
          <a:prstGeom prst="roundRect">
            <a:avLst>
              <a:gd name="adj" fmla="val 27273"/>
            </a:avLst>
          </a:prstGeom>
          <a:solidFill>
            <a:srgbClr val="EC1D35"/>
          </a:solidFill>
          <a:ln w="12700">
            <a:solidFill>
              <a:srgbClr val="EC1D35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301752"/>
            <a:ext cx="1014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ПОДБОР</a:t>
            </a:r>
            <a:endParaRPr lang="en-US" sz="1100" dirty="0"/>
          </a:p>
        </p:txBody>
      </p:sp>
      <p:pic>
        <p:nvPicPr>
          <p:cNvPr id="5" name="Image 1" descr="/home/user/workspace/w/a10/docs/presentation/assets/logo_fs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400800"/>
            <a:ext cx="2167128" cy="2743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743200" y="6400800"/>
            <a:ext cx="18288" cy="274320"/>
          </a:xfrm>
          <a:prstGeom prst="rect">
            <a:avLst/>
          </a:prstGeom>
          <a:solidFill>
            <a:srgbClr val="9EA3D9"/>
          </a:solidFill>
          <a:ln w="12700">
            <a:solidFill>
              <a:srgbClr val="9EA3D9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880360" y="6355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Драфт</a:t>
            </a:r>
            <a:r>
              <a:rPr lang="en-US" sz="110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fsp-draft.ru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1247120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11480" y="868680"/>
            <a:ext cx="11338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Подборка — только из проверенного,</a:t>
            </a:r>
            <a:endParaRPr lang="en-US" sz="3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 объяснение у каждого кандидата</a:t>
            </a:r>
            <a:endParaRPr lang="en-US" sz="3000" dirty="0"/>
          </a:p>
        </p:txBody>
      </p:sp>
      <p:sp>
        <p:nvSpPr>
          <p:cNvPr id="10" name="Shape 6"/>
          <p:cNvSpPr/>
          <p:nvPr/>
        </p:nvSpPr>
        <p:spPr>
          <a:xfrm>
            <a:off x="411480" y="2148840"/>
            <a:ext cx="6675120" cy="786384"/>
          </a:xfrm>
          <a:prstGeom prst="roundRect">
            <a:avLst>
              <a:gd name="adj" fmla="val 16279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40080" y="2221992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Грейд — только подтверждённый тестом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40080" y="256032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заявленный в резюме уровень не фильтрует и не даёт баллов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11480" y="3044952"/>
            <a:ext cx="6675120" cy="786384"/>
          </a:xfrm>
          <a:prstGeom prst="roundRect">
            <a:avLst>
              <a:gd name="adj" fmla="val 16279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40080" y="3118104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Навык без теста — ноль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40080" y="3456432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место задают тест по навыкам этой вакансии и достижения ФСП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11480" y="3941064"/>
            <a:ext cx="6675120" cy="786384"/>
          </a:xfrm>
          <a:prstGeom prst="roundRect">
            <a:avLst>
              <a:gd name="adj" fmla="val 16279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40080" y="4014216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ФСП — по официальным протоколам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640080" y="4352544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бонус за подтверждённое, без штрафа тем, у кого истории нет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411480" y="4837176"/>
            <a:ext cx="6675120" cy="786384"/>
          </a:xfrm>
          <a:prstGeom prst="roundRect">
            <a:avLst>
              <a:gd name="adj" fmla="val 16279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40080" y="4910328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«Почему он выше следующего»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640080" y="5248656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объяснение полными фразами в каждой карточке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7315200" y="2148840"/>
            <a:ext cx="4434840" cy="3493008"/>
          </a:xfrm>
          <a:prstGeom prst="roundRect">
            <a:avLst>
              <a:gd name="adj" fmla="val 3665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543800" y="22860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Подбор: точность первой пятёрки (P@5)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7543800" y="2697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стандартные условия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9601200" y="2697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8A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проверка на прочность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7543800" y="29718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77,1 %</a:t>
            </a:r>
            <a:endParaRPr lang="en-US" sz="2600" dirty="0"/>
          </a:p>
        </p:txBody>
      </p:sp>
      <p:sp>
        <p:nvSpPr>
          <p:cNvPr id="27" name="Text 23"/>
          <p:cNvSpPr/>
          <p:nvPr/>
        </p:nvSpPr>
        <p:spPr>
          <a:xfrm>
            <a:off x="9601200" y="29718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75,9 %</a:t>
            </a:r>
            <a:endParaRPr lang="en-US" sz="2600" dirty="0"/>
          </a:p>
        </p:txBody>
      </p:sp>
      <p:sp>
        <p:nvSpPr>
          <p:cNvPr id="28" name="Shape 24"/>
          <p:cNvSpPr/>
          <p:nvPr/>
        </p:nvSpPr>
        <p:spPr>
          <a:xfrm>
            <a:off x="7543800" y="3703320"/>
            <a:ext cx="3977640" cy="0"/>
          </a:xfrm>
          <a:prstGeom prst="line">
            <a:avLst/>
          </a:prstGeom>
          <a:noFill/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7543800" y="38404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E3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Открытый набор вакансий — nDCG@10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7543800" y="42062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0,58</a:t>
            </a:r>
            <a:endParaRPr lang="en-US" sz="2600" dirty="0"/>
          </a:p>
        </p:txBody>
      </p:sp>
      <p:sp>
        <p:nvSpPr>
          <p:cNvPr id="31" name="Text 27"/>
          <p:cNvSpPr/>
          <p:nvPr/>
        </p:nvSpPr>
        <p:spPr>
          <a:xfrm>
            <a:off x="7543800" y="47548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данные, которых при настройке не было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space/w/a10/docs/presentation/assets/logos_organiz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329184"/>
            <a:ext cx="4882896" cy="3383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01752"/>
            <a:ext cx="1330452" cy="402336"/>
          </a:xfrm>
          <a:prstGeom prst="roundRect">
            <a:avLst>
              <a:gd name="adj" fmla="val 27273"/>
            </a:avLst>
          </a:prstGeom>
          <a:solidFill>
            <a:srgbClr val="EC1D35"/>
          </a:solidFill>
          <a:ln w="12700">
            <a:solidFill>
              <a:srgbClr val="EC1D35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301752"/>
            <a:ext cx="13304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ВАЛИДАЦИЯ</a:t>
            </a:r>
            <a:endParaRPr lang="en-US" sz="1100" dirty="0"/>
          </a:p>
        </p:txBody>
      </p:sp>
      <p:pic>
        <p:nvPicPr>
          <p:cNvPr id="5" name="Image 1" descr="/home/user/workspace/w/a10/docs/presentation/assets/logo_fs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400800"/>
            <a:ext cx="2167128" cy="2743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743200" y="6400800"/>
            <a:ext cx="18288" cy="274320"/>
          </a:xfrm>
          <a:prstGeom prst="rect">
            <a:avLst/>
          </a:prstGeom>
          <a:solidFill>
            <a:srgbClr val="9EA3D9"/>
          </a:solidFill>
          <a:ln w="12700">
            <a:solidFill>
              <a:srgbClr val="9EA3D9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880360" y="6355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Драфт</a:t>
            </a:r>
            <a:r>
              <a:rPr lang="en-US" sz="110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fsp-draft.ru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1247120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11480" y="868680"/>
            <a:ext cx="11338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Каждая цифра — дважды: в стандартных</a:t>
            </a:r>
            <a:endParaRPr lang="en-US" sz="2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условиях и в проверке на прочность</a:t>
            </a:r>
            <a:endParaRPr lang="en-US" sz="2800" dirty="0"/>
          </a:p>
        </p:txBody>
      </p:sp>
      <p:sp>
        <p:nvSpPr>
          <p:cNvPr id="10" name="Shape 6"/>
          <p:cNvSpPr/>
          <p:nvPr/>
        </p:nvSpPr>
        <p:spPr>
          <a:xfrm>
            <a:off x="411480" y="2011680"/>
            <a:ext cx="9692640" cy="566928"/>
          </a:xfrm>
          <a:prstGeom prst="roundRect">
            <a:avLst>
              <a:gd name="adj" fmla="val 22581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40080" y="2057400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Метрика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120640" y="205740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Стандартные условия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406640" y="205740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A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Проверка на прочность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11480" y="2670048"/>
            <a:ext cx="9692640" cy="566928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0080" y="267004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Точный грейд — 6 ступеней, все кандидаты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120640" y="26974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77,6 %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7406640" y="26974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75,4 %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640080" y="327355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Ложное подтверждение грейда (от всех)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5120640" y="330098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2,1 %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7406640" y="330098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2,7 %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411480" y="3877056"/>
            <a:ext cx="9692640" cy="566928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40080" y="3877056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Подбор: nDCG@10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5120640" y="390448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0,66</a:t>
            </a:r>
            <a:endParaRPr lang="en-US" sz="2000" dirty="0"/>
          </a:p>
        </p:txBody>
      </p:sp>
      <p:sp>
        <p:nvSpPr>
          <p:cNvPr id="24" name="Text 20"/>
          <p:cNvSpPr/>
          <p:nvPr/>
        </p:nvSpPr>
        <p:spPr>
          <a:xfrm>
            <a:off x="7406640" y="390448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0,57</a:t>
            </a:r>
            <a:endParaRPr lang="en-US" sz="2000" dirty="0"/>
          </a:p>
        </p:txBody>
      </p:sp>
      <p:sp>
        <p:nvSpPr>
          <p:cNvPr id="25" name="Shape 21"/>
          <p:cNvSpPr/>
          <p:nvPr/>
        </p:nvSpPr>
        <p:spPr>
          <a:xfrm>
            <a:off x="411480" y="4617720"/>
            <a:ext cx="2697480" cy="914400"/>
          </a:xfrm>
          <a:prstGeom prst="roundRect">
            <a:avLst>
              <a:gd name="adj" fmla="val 14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94360" y="4681728"/>
            <a:ext cx="36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C1D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200" dirty="0"/>
          </a:p>
        </p:txBody>
      </p:sp>
      <p:sp>
        <p:nvSpPr>
          <p:cNvPr id="27" name="Text 23"/>
          <p:cNvSpPr/>
          <p:nvPr/>
        </p:nvSpPr>
        <p:spPr>
          <a:xfrm>
            <a:off x="1005840" y="468172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Протокол и хэш данных — до прогона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3273552" y="4617720"/>
            <a:ext cx="2697480" cy="914400"/>
          </a:xfrm>
          <a:prstGeom prst="roundRect">
            <a:avLst>
              <a:gd name="adj" fmla="val 14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3456432" y="4681728"/>
            <a:ext cx="36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C1D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200" dirty="0"/>
          </a:p>
        </p:txBody>
      </p:sp>
      <p:sp>
        <p:nvSpPr>
          <p:cNvPr id="30" name="Text 26"/>
          <p:cNvSpPr/>
          <p:nvPr/>
        </p:nvSpPr>
        <p:spPr>
          <a:xfrm>
            <a:off x="3867912" y="468172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Настройка — только на обучающих данных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6135624" y="4617720"/>
            <a:ext cx="2697480" cy="914400"/>
          </a:xfrm>
          <a:prstGeom prst="roundRect">
            <a:avLst>
              <a:gd name="adj" fmla="val 14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6318504" y="4681728"/>
            <a:ext cx="36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C1D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200" dirty="0"/>
          </a:p>
        </p:txBody>
      </p:sp>
      <p:sp>
        <p:nvSpPr>
          <p:cNvPr id="33" name="Text 29"/>
          <p:cNvSpPr/>
          <p:nvPr/>
        </p:nvSpPr>
        <p:spPr>
          <a:xfrm>
            <a:off x="6729984" y="468172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Один прогон на отложенных</a:t>
            </a: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>
            <a:off x="8997696" y="4617720"/>
            <a:ext cx="2697480" cy="914400"/>
          </a:xfrm>
          <a:prstGeom prst="roundRect">
            <a:avLst>
              <a:gd name="adj" fmla="val 14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9180576" y="4681728"/>
            <a:ext cx="36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C1D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2200" dirty="0"/>
          </a:p>
        </p:txBody>
      </p:sp>
      <p:sp>
        <p:nvSpPr>
          <p:cNvPr id="36" name="Text 32"/>
          <p:cNvSpPr/>
          <p:nvPr/>
        </p:nvSpPr>
        <p:spPr>
          <a:xfrm>
            <a:off x="9592056" y="468172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Все цифры — из одного файла</a:t>
            </a:r>
            <a:endParaRPr lang="en-US" sz="1200" dirty="0"/>
          </a:p>
        </p:txBody>
      </p:sp>
      <p:sp>
        <p:nvSpPr>
          <p:cNvPr id="37" name="Text 33"/>
          <p:cNvSpPr/>
          <p:nvPr/>
        </p:nvSpPr>
        <p:spPr>
          <a:xfrm>
            <a:off x="411480" y="565099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EA3D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Почему справа строже: грейд — по шести ступеням; в тесте кандидаты угадывают, чаще завышают заявку, больше людей у порогов; в подборе часть анкет завышает грейд и стек. Обе колонки — один прогон на отложенных данных. Кандидаты модельные, не люди; условия, N и команда пересчёта — на сайте, раздел «Как мы проверяем себя».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space/w/a10/docs/presentation/assets/logos_organiz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329184"/>
            <a:ext cx="4882896" cy="3383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01752"/>
            <a:ext cx="1751076" cy="402336"/>
          </a:xfrm>
          <a:prstGeom prst="roundRect">
            <a:avLst>
              <a:gd name="adj" fmla="val 27273"/>
            </a:avLst>
          </a:prstGeom>
          <a:solidFill>
            <a:srgbClr val="EC1D35"/>
          </a:solidFill>
          <a:ln w="12700">
            <a:solidFill>
              <a:srgbClr val="EC1D35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301752"/>
            <a:ext cx="17510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ФСП И КОМАНДА</a:t>
            </a:r>
            <a:endParaRPr lang="en-US" sz="1100" dirty="0"/>
          </a:p>
        </p:txBody>
      </p:sp>
      <p:pic>
        <p:nvPicPr>
          <p:cNvPr id="5" name="Image 1" descr="/home/user/workspace/w/a10/docs/presentation/assets/logo_fs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400800"/>
            <a:ext cx="2167128" cy="2743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743200" y="6400800"/>
            <a:ext cx="18288" cy="274320"/>
          </a:xfrm>
          <a:prstGeom prst="rect">
            <a:avLst/>
          </a:prstGeom>
          <a:solidFill>
            <a:srgbClr val="9EA3D9"/>
          </a:solidFill>
          <a:ln w="12700">
            <a:solidFill>
              <a:srgbClr val="9EA3D9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880360" y="6355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Драфт</a:t>
            </a:r>
            <a:r>
              <a:rPr lang="en-US" sz="110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fsp-draft.ru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1247120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11480" y="868680"/>
            <a:ext cx="11338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Для Федерации — канал к работодателям.</a:t>
            </a:r>
            <a:endParaRPr lang="en-US" sz="2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Команда Neuropeople</a:t>
            </a:r>
            <a:endParaRPr lang="en-US" sz="2800" dirty="0"/>
          </a:p>
        </p:txBody>
      </p:sp>
      <p:sp>
        <p:nvSpPr>
          <p:cNvPr id="10" name="Shape 6"/>
          <p:cNvSpPr/>
          <p:nvPr/>
        </p:nvSpPr>
        <p:spPr>
          <a:xfrm>
            <a:off x="411480" y="2057400"/>
            <a:ext cx="5029200" cy="3611880"/>
          </a:xfrm>
          <a:prstGeom prst="roundRect">
            <a:avLst>
              <a:gd name="adj" fmla="val 3544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4008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BE3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Официальные протоколы ФСП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40080" y="26060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</a:t>
            </a:r>
            <a:endParaRPr lang="en-US" sz="3000" dirty="0"/>
          </a:p>
        </p:txBody>
      </p:sp>
      <p:sp>
        <p:nvSpPr>
          <p:cNvPr id="13" name="Text 9"/>
          <p:cNvSpPr/>
          <p:nvPr/>
        </p:nvSpPr>
        <p:spPr>
          <a:xfrm>
            <a:off x="640080" y="3108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протоколов в индексе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2926080" y="26060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2 908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2926080" y="3108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результатов спортсменов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640080" y="3611880"/>
            <a:ext cx="4617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достижение в карточке — со ссылкой на строку протокола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спортивный разряд — понятным работодателю языком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кабинет ФСП: спрос компаний по регионам и направлениям</a:t>
            </a:r>
            <a:endParaRPr lang="en-US" sz="1250" dirty="0"/>
          </a:p>
        </p:txBody>
      </p:sp>
      <p:pic>
        <p:nvPicPr>
          <p:cNvPr id="17" name="Image 2" descr="/home/user/workspace/w/a10/docs/presentation/assets/team_photo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2057400"/>
            <a:ext cx="6080760" cy="280219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669280" y="496932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Дмитрий Кузнецов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инженер по качеству и внедрению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8732520" y="496932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Денис Михеев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капитан, Neuropeople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669280" y="5532120"/>
            <a:ext cx="6080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Проверьте сами: </a:t>
            </a:r>
            <a:r>
              <a:rPr lang="en-US" sz="1400" b="1" u="sng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fsp-draft.ru/demo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space/w/a10/docs/presentation/assets/logo_dra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94560"/>
            <a:ext cx="2743200" cy="87508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1480" y="3291840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Приложение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11480" y="40690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Подробности для вопросов жюри: замечания экспертизы, как мы проверяем, механика подбора, тест, валидация, документы ФСП, интеграции, архитектура, монетизация, ссылки.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space/w/a10/docs/presentation/assets/logos_organiz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329184"/>
            <a:ext cx="4882896" cy="3383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01752"/>
            <a:ext cx="2487168" cy="402336"/>
          </a:xfrm>
          <a:prstGeom prst="roundRect">
            <a:avLst>
              <a:gd name="adj" fmla="val 27273"/>
            </a:avLst>
          </a:prstGeom>
          <a:solidFill>
            <a:srgbClr val="EC1D35"/>
          </a:solidFill>
          <a:ln w="12700">
            <a:solidFill>
              <a:srgbClr val="EC1D35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301752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ЗАМЕЧАНИЯ ЭКСПЕРТИЗЫ</a:t>
            </a:r>
            <a:endParaRPr lang="en-US" sz="1100" dirty="0"/>
          </a:p>
        </p:txBody>
      </p:sp>
      <p:pic>
        <p:nvPicPr>
          <p:cNvPr id="5" name="Image 1" descr="/home/user/workspace/w/a10/docs/presentation/assets/logo_fs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400800"/>
            <a:ext cx="2167128" cy="2743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743200" y="6400800"/>
            <a:ext cx="18288" cy="274320"/>
          </a:xfrm>
          <a:prstGeom prst="rect">
            <a:avLst/>
          </a:prstGeom>
          <a:solidFill>
            <a:srgbClr val="9EA3D9"/>
          </a:solidFill>
          <a:ln w="12700">
            <a:solidFill>
              <a:srgbClr val="9EA3D9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880360" y="6355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Драфт</a:t>
            </a:r>
            <a:r>
              <a:rPr lang="en-US" sz="110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fsp-draft.ru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1247120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11480" y="868680"/>
            <a:ext cx="11338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 сказали — мы сделали:</a:t>
            </a:r>
            <a:endParaRPr lang="en-US" sz="2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 замечаний экспертизы 20.10</a:t>
            </a:r>
            <a:endParaRPr lang="en-US" sz="2800" dirty="0"/>
          </a:p>
        </p:txBody>
      </p:sp>
      <p:sp>
        <p:nvSpPr>
          <p:cNvPr id="10" name="Shape 6"/>
          <p:cNvSpPr/>
          <p:nvPr/>
        </p:nvSpPr>
        <p:spPr>
          <a:xfrm>
            <a:off x="411480" y="1874520"/>
            <a:ext cx="2743200" cy="1207008"/>
          </a:xfrm>
          <a:prstGeom prst="roundRect">
            <a:avLst>
              <a:gd name="adj" fmla="val 10606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39496" y="196596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C1D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868680" y="1965960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Место — по тесту и ФСП, стек — фильтр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539496" y="2377440"/>
            <a:ext cx="2505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Порядок задают тест по навыкам вакансии и ФСП; заявленное без теста не влияет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539496" y="2807208"/>
            <a:ext cx="2505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A59D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/employer/needs/&lt;id&gt;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3276295" y="1874520"/>
            <a:ext cx="2743200" cy="1207008"/>
          </a:xfrm>
          <a:prstGeom prst="roundRect">
            <a:avLst>
              <a:gd name="adj" fmla="val 10606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404311" y="196596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C1D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733495" y="1965960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Фильтр грейда без заявленного уровня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3404311" y="2377440"/>
            <a:ext cx="2505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Фильтр отбирает только грейд, подтверждённый тестом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3404311" y="2807208"/>
            <a:ext cx="2505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A59D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/employer/search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6141110" y="1874520"/>
            <a:ext cx="2743200" cy="1207008"/>
          </a:xfrm>
          <a:prstGeom prst="roundRect">
            <a:avLst>
              <a:gd name="adj" fmla="val 10606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269126" y="196596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C1D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6598310" y="1965960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Ответ не должен уходить в браузер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6269126" y="2377440"/>
            <a:ext cx="2505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Ключи хранятся и проверяются только на сервере; сквозной тест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6269126" y="2807208"/>
            <a:ext cx="2505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A59D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e2e 21-no-answer-keys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9005926" y="1874520"/>
            <a:ext cx="2743200" cy="1207008"/>
          </a:xfrm>
          <a:prstGeom prst="roundRect">
            <a:avLst>
              <a:gd name="adj" fmla="val 10606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9133942" y="196596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C1D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9463126" y="1965960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Демо-код ФСП ID — не как рабочий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9133942" y="2377440"/>
            <a:ext cx="2505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Код виден только в демо-роли, с пометкой «Демо-стенд»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9133942" y="2807208"/>
            <a:ext cx="2505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A59D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/candidate/fsp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411480" y="3172968"/>
            <a:ext cx="2743200" cy="1207008"/>
          </a:xfrm>
          <a:prstGeom prst="roundRect">
            <a:avLst>
              <a:gd name="adj" fmla="val 10606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39496" y="3264408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C1D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28"/>
          <p:cNvSpPr/>
          <p:nvPr/>
        </p:nvSpPr>
        <p:spPr>
          <a:xfrm>
            <a:off x="868680" y="3264408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Порядок — с потребностью и без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539496" y="3675888"/>
            <a:ext cx="2505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Два правила описаны и покрыты тестами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539496" y="4105656"/>
            <a:ext cx="2505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A59D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docs/matching/ORDER.md</a:t>
            </a:r>
            <a:endParaRPr lang="en-US" sz="850" dirty="0"/>
          </a:p>
        </p:txBody>
      </p:sp>
      <p:sp>
        <p:nvSpPr>
          <p:cNvPr id="35" name="Shape 31"/>
          <p:cNvSpPr/>
          <p:nvPr/>
        </p:nvSpPr>
        <p:spPr>
          <a:xfrm>
            <a:off x="3276295" y="3172968"/>
            <a:ext cx="2743200" cy="1207008"/>
          </a:xfrm>
          <a:prstGeom prst="roundRect">
            <a:avLst>
              <a:gd name="adj" fmla="val 10606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3404311" y="3264408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C1D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3"/>
          <p:cNvSpPr/>
          <p:nvPr/>
        </p:nvSpPr>
        <p:spPr>
          <a:xfrm>
            <a:off x="3733495" y="3264408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«Почему» — без устного перевода</a:t>
            </a:r>
            <a:endParaRPr lang="en-US" sz="1000" dirty="0"/>
          </a:p>
        </p:txBody>
      </p:sp>
      <p:sp>
        <p:nvSpPr>
          <p:cNvPr id="38" name="Text 34"/>
          <p:cNvSpPr/>
          <p:nvPr/>
        </p:nvSpPr>
        <p:spPr>
          <a:xfrm>
            <a:off x="3404311" y="3675888"/>
            <a:ext cx="2505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Пояснения полными фразами, без внутренних кодов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3404311" y="4105656"/>
            <a:ext cx="2505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A59D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карточка в подборке</a:t>
            </a:r>
            <a:endParaRPr lang="en-US" sz="850" dirty="0"/>
          </a:p>
        </p:txBody>
      </p:sp>
      <p:sp>
        <p:nvSpPr>
          <p:cNvPr id="40" name="Shape 36"/>
          <p:cNvSpPr/>
          <p:nvPr/>
        </p:nvSpPr>
        <p:spPr>
          <a:xfrm>
            <a:off x="6141110" y="3172968"/>
            <a:ext cx="2743200" cy="1207008"/>
          </a:xfrm>
          <a:prstGeom prst="roundRect">
            <a:avLst>
              <a:gd name="adj" fmla="val 10606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6269126" y="3264408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C1D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1400" dirty="0"/>
          </a:p>
        </p:txBody>
      </p:sp>
      <p:sp>
        <p:nvSpPr>
          <p:cNvPr id="42" name="Text 38"/>
          <p:cNvSpPr/>
          <p:nvPr/>
        </p:nvSpPr>
        <p:spPr>
          <a:xfrm>
            <a:off x="6598310" y="3264408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Вилка до согласия, контакты закрыты</a:t>
            </a:r>
            <a:endParaRPr lang="en-US" sz="1000" dirty="0"/>
          </a:p>
        </p:txBody>
      </p:sp>
      <p:sp>
        <p:nvSpPr>
          <p:cNvPr id="43" name="Text 39"/>
          <p:cNvSpPr/>
          <p:nvPr/>
        </p:nvSpPr>
        <p:spPr>
          <a:xfrm>
            <a:off x="6269126" y="3675888"/>
            <a:ext cx="2505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Без вилки — ошибка 422; отзыв согласия снова закрывает контакты</a:t>
            </a:r>
            <a:endParaRPr lang="en-US" sz="900" dirty="0"/>
          </a:p>
        </p:txBody>
      </p:sp>
      <p:sp>
        <p:nvSpPr>
          <p:cNvPr id="44" name="Text 40"/>
          <p:cNvSpPr/>
          <p:nvPr/>
        </p:nvSpPr>
        <p:spPr>
          <a:xfrm>
            <a:off x="6269126" y="4105656"/>
            <a:ext cx="2505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A59D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/candidate/invitations</a:t>
            </a:r>
            <a:endParaRPr lang="en-US" sz="850" dirty="0"/>
          </a:p>
        </p:txBody>
      </p:sp>
      <p:sp>
        <p:nvSpPr>
          <p:cNvPr id="45" name="Shape 41"/>
          <p:cNvSpPr/>
          <p:nvPr/>
        </p:nvSpPr>
        <p:spPr>
          <a:xfrm>
            <a:off x="9005926" y="3172968"/>
            <a:ext cx="2743200" cy="1207008"/>
          </a:xfrm>
          <a:prstGeom prst="roundRect">
            <a:avLst>
              <a:gd name="adj" fmla="val 10606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9133942" y="3264408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C1D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1400" dirty="0"/>
          </a:p>
        </p:txBody>
      </p:sp>
      <p:sp>
        <p:nvSpPr>
          <p:cNvPr id="47" name="Text 43"/>
          <p:cNvSpPr/>
          <p:nvPr/>
        </p:nvSpPr>
        <p:spPr>
          <a:xfrm>
            <a:off x="9463126" y="3264408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Провал не снимает грейд; без ФСП — в выдаче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9133942" y="3675888"/>
            <a:ext cx="2505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Правило в коде и тестах; ФСП без истории — ноль, без штрафа</a:t>
            </a:r>
            <a:endParaRPr lang="en-US" sz="900" dirty="0"/>
          </a:p>
        </p:txBody>
      </p:sp>
      <p:sp>
        <p:nvSpPr>
          <p:cNvPr id="49" name="Text 45"/>
          <p:cNvSpPr/>
          <p:nvPr/>
        </p:nvSpPr>
        <p:spPr>
          <a:xfrm>
            <a:off x="9133942" y="4105656"/>
            <a:ext cx="2505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A59D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/demo</a:t>
            </a:r>
            <a:endParaRPr lang="en-US" sz="850" dirty="0"/>
          </a:p>
        </p:txBody>
      </p:sp>
      <p:sp>
        <p:nvSpPr>
          <p:cNvPr id="50" name="Shape 46"/>
          <p:cNvSpPr/>
          <p:nvPr/>
        </p:nvSpPr>
        <p:spPr>
          <a:xfrm>
            <a:off x="411480" y="4471416"/>
            <a:ext cx="2743200" cy="1207008"/>
          </a:xfrm>
          <a:prstGeom prst="roundRect">
            <a:avLst>
              <a:gd name="adj" fmla="val 10606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539496" y="456285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C1D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</a:t>
            </a:r>
            <a:endParaRPr lang="en-US" sz="1400" dirty="0"/>
          </a:p>
        </p:txBody>
      </p:sp>
      <p:sp>
        <p:nvSpPr>
          <p:cNvPr id="52" name="Text 48"/>
          <p:cNvSpPr/>
          <p:nvPr/>
        </p:nvSpPr>
        <p:spPr>
          <a:xfrm>
            <a:off x="868680" y="4562856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Секреты — не в репозитории</a:t>
            </a:r>
            <a:endParaRPr lang="en-US" sz="1000" dirty="0"/>
          </a:p>
        </p:txBody>
      </p:sp>
      <p:sp>
        <p:nvSpPr>
          <p:cNvPr id="53" name="Text 49"/>
          <p:cNvSpPr/>
          <p:nvPr/>
        </p:nvSpPr>
        <p:spPr>
          <a:xfrm>
            <a:off x="539496" y="4974336"/>
            <a:ext cx="2505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Только .env на сервере; проверка всей истории gitleaks</a:t>
            </a:r>
            <a:endParaRPr lang="en-US" sz="900" dirty="0"/>
          </a:p>
        </p:txBody>
      </p:sp>
      <p:sp>
        <p:nvSpPr>
          <p:cNvPr id="54" name="Text 50"/>
          <p:cNvSpPr/>
          <p:nvPr/>
        </p:nvSpPr>
        <p:spPr>
          <a:xfrm>
            <a:off x="539496" y="5404104"/>
            <a:ext cx="2505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A59D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.gitleaks.toml</a:t>
            </a:r>
            <a:endParaRPr lang="en-US" sz="850" dirty="0"/>
          </a:p>
        </p:txBody>
      </p:sp>
      <p:sp>
        <p:nvSpPr>
          <p:cNvPr id="55" name="Shape 51"/>
          <p:cNvSpPr/>
          <p:nvPr/>
        </p:nvSpPr>
        <p:spPr>
          <a:xfrm>
            <a:off x="3276295" y="4471416"/>
            <a:ext cx="2743200" cy="1207008"/>
          </a:xfrm>
          <a:prstGeom prst="roundRect">
            <a:avLst>
              <a:gd name="adj" fmla="val 10606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3404311" y="456285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C1D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1400" dirty="0"/>
          </a:p>
        </p:txBody>
      </p:sp>
      <p:sp>
        <p:nvSpPr>
          <p:cNvPr id="57" name="Text 53"/>
          <p:cNvSpPr/>
          <p:nvPr/>
        </p:nvSpPr>
        <p:spPr>
          <a:xfrm>
            <a:off x="3733495" y="4562856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Письмо подтверждения — настоящее</a:t>
            </a:r>
            <a:endParaRPr lang="en-US" sz="1000" dirty="0"/>
          </a:p>
        </p:txBody>
      </p:sp>
      <p:sp>
        <p:nvSpPr>
          <p:cNvPr id="58" name="Text 54"/>
          <p:cNvSpPr/>
          <p:nvPr/>
        </p:nvSpPr>
        <p:spPr>
          <a:xfrm>
            <a:off x="3404311" y="4974336"/>
            <a:ext cx="2505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Код приходит письмом; почта — с проверкой сертификата</a:t>
            </a:r>
            <a:endParaRPr lang="en-US" sz="900" dirty="0"/>
          </a:p>
        </p:txBody>
      </p:sp>
      <p:sp>
        <p:nvSpPr>
          <p:cNvPr id="59" name="Text 55"/>
          <p:cNvSpPr/>
          <p:nvPr/>
        </p:nvSpPr>
        <p:spPr>
          <a:xfrm>
            <a:off x="3404311" y="5404104"/>
            <a:ext cx="2505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A59D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/register</a:t>
            </a:r>
            <a:endParaRPr lang="en-US" sz="850" dirty="0"/>
          </a:p>
        </p:txBody>
      </p:sp>
      <p:sp>
        <p:nvSpPr>
          <p:cNvPr id="60" name="Shape 56"/>
          <p:cNvSpPr/>
          <p:nvPr/>
        </p:nvSpPr>
        <p:spPr>
          <a:xfrm>
            <a:off x="6141110" y="4471416"/>
            <a:ext cx="2743200" cy="1207008"/>
          </a:xfrm>
          <a:prstGeom prst="roundRect">
            <a:avLst>
              <a:gd name="adj" fmla="val 10606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61" name="Text 57"/>
          <p:cNvSpPr/>
          <p:nvPr/>
        </p:nvSpPr>
        <p:spPr>
          <a:xfrm>
            <a:off x="6269126" y="456285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C1D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</a:t>
            </a:r>
            <a:endParaRPr lang="en-US" sz="1400" dirty="0"/>
          </a:p>
        </p:txBody>
      </p:sp>
      <p:sp>
        <p:nvSpPr>
          <p:cNvPr id="62" name="Text 58"/>
          <p:cNvSpPr/>
          <p:nvPr/>
        </p:nvSpPr>
        <p:spPr>
          <a:xfrm>
            <a:off x="6598310" y="4562856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README без обещаний</a:t>
            </a:r>
            <a:endParaRPr lang="en-US" sz="1000" dirty="0"/>
          </a:p>
        </p:txBody>
      </p:sp>
      <p:sp>
        <p:nvSpPr>
          <p:cNvPr id="63" name="Text 59"/>
          <p:cNvSpPr/>
          <p:nvPr/>
        </p:nvSpPr>
        <p:spPr>
          <a:xfrm>
            <a:off x="6269126" y="4974336"/>
            <a:ext cx="2505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Каждая цифра — из NUMBERS.json с условием; сборка проверяет ссылки</a:t>
            </a:r>
            <a:endParaRPr lang="en-US" sz="900" dirty="0"/>
          </a:p>
        </p:txBody>
      </p:sp>
      <p:sp>
        <p:nvSpPr>
          <p:cNvPr id="64" name="Text 60"/>
          <p:cNvSpPr/>
          <p:nvPr/>
        </p:nvSpPr>
        <p:spPr>
          <a:xfrm>
            <a:off x="6269126" y="5404104"/>
            <a:ext cx="2505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A59D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README.md</a:t>
            </a:r>
            <a:endParaRPr lang="en-US" sz="850" dirty="0"/>
          </a:p>
        </p:txBody>
      </p:sp>
      <p:sp>
        <p:nvSpPr>
          <p:cNvPr id="65" name="Shape 61"/>
          <p:cNvSpPr/>
          <p:nvPr/>
        </p:nvSpPr>
        <p:spPr>
          <a:xfrm>
            <a:off x="9005926" y="4471416"/>
            <a:ext cx="2743200" cy="1207008"/>
          </a:xfrm>
          <a:prstGeom prst="roundRect">
            <a:avLst>
              <a:gd name="adj" fmla="val 10606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66" name="Text 62"/>
          <p:cNvSpPr/>
          <p:nvPr/>
        </p:nvSpPr>
        <p:spPr>
          <a:xfrm>
            <a:off x="9133942" y="456285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C1D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</a:t>
            </a:r>
            <a:endParaRPr lang="en-US" sz="1400" dirty="0"/>
          </a:p>
        </p:txBody>
      </p:sp>
      <p:sp>
        <p:nvSpPr>
          <p:cNvPr id="67" name="Text 63"/>
          <p:cNvSpPr/>
          <p:nvPr/>
        </p:nvSpPr>
        <p:spPr>
          <a:xfrm>
            <a:off x="9463126" y="4562856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Что изменилось к финалу и почему</a:t>
            </a:r>
            <a:endParaRPr lang="en-US" sz="1000" dirty="0"/>
          </a:p>
        </p:txBody>
      </p:sp>
      <p:sp>
        <p:nvSpPr>
          <p:cNvPr id="68" name="Text 64"/>
          <p:cNvSpPr/>
          <p:nvPr/>
        </p:nvSpPr>
        <p:spPr>
          <a:xfrm>
            <a:off x="9133942" y="4974336"/>
            <a:ext cx="2505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Отдельный документ по волнам доработки</a:t>
            </a:r>
            <a:endParaRPr lang="en-US" sz="900" dirty="0"/>
          </a:p>
        </p:txBody>
      </p:sp>
      <p:sp>
        <p:nvSpPr>
          <p:cNvPr id="69" name="Text 65"/>
          <p:cNvSpPr/>
          <p:nvPr/>
        </p:nvSpPr>
        <p:spPr>
          <a:xfrm>
            <a:off x="9133942" y="5404104"/>
            <a:ext cx="2505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A59D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docs/submission/CHANGELOG.md</a:t>
            </a:r>
            <a:endParaRPr lang="en-US" sz="850" dirty="0"/>
          </a:p>
        </p:txBody>
      </p:sp>
      <p:sp>
        <p:nvSpPr>
          <p:cNvPr id="70" name="Text 66"/>
          <p:cNvSpPr/>
          <p:nvPr/>
        </p:nvSpPr>
        <p:spPr>
          <a:xfrm>
            <a:off x="411480" y="5870448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EA3D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Каждую строку можно проверить самостоятельно — адрес на сайте, тест или файл указан в карточке. Полная таблица с методами API и тестами — README, раздел «Замечания экспертизы 20.10 — как проверить».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space/w/a10/docs/presentation/assets/logos_organiz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329184"/>
            <a:ext cx="4882896" cy="3383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01752"/>
            <a:ext cx="2066544" cy="402336"/>
          </a:xfrm>
          <a:prstGeom prst="roundRect">
            <a:avLst>
              <a:gd name="adj" fmla="val 27273"/>
            </a:avLst>
          </a:prstGeom>
          <a:solidFill>
            <a:srgbClr val="EC1D35"/>
          </a:solidFill>
          <a:ln w="12700">
            <a:solidFill>
              <a:srgbClr val="EC1D35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301752"/>
            <a:ext cx="2066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КАК МЫ ПРОВЕРЯЕМ</a:t>
            </a:r>
            <a:endParaRPr lang="en-US" sz="1100" dirty="0"/>
          </a:p>
        </p:txBody>
      </p:sp>
      <p:pic>
        <p:nvPicPr>
          <p:cNvPr id="5" name="Image 1" descr="/home/user/workspace/w/a10/docs/presentation/assets/logo_fs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400800"/>
            <a:ext cx="2167128" cy="2743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743200" y="6400800"/>
            <a:ext cx="18288" cy="274320"/>
          </a:xfrm>
          <a:prstGeom prst="rect">
            <a:avLst/>
          </a:prstGeom>
          <a:solidFill>
            <a:srgbClr val="9EA3D9"/>
          </a:solidFill>
          <a:ln w="12700">
            <a:solidFill>
              <a:srgbClr val="9EA3D9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880360" y="6355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Драфт</a:t>
            </a:r>
            <a:r>
              <a:rPr lang="en-US" sz="110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fsp-draft.ru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1247120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11480" y="868680"/>
            <a:ext cx="11338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Как мы проверяем себя:</a:t>
            </a:r>
            <a:endParaRPr lang="en-US" sz="2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сначала правила и хэш, потом один прогон</a:t>
            </a:r>
            <a:endParaRPr lang="en-US" sz="2800" dirty="0"/>
          </a:p>
        </p:txBody>
      </p:sp>
      <p:sp>
        <p:nvSpPr>
          <p:cNvPr id="10" name="Shape 6"/>
          <p:cNvSpPr/>
          <p:nvPr/>
        </p:nvSpPr>
        <p:spPr>
          <a:xfrm>
            <a:off x="411480" y="1874520"/>
            <a:ext cx="4754880" cy="694944"/>
          </a:xfrm>
          <a:prstGeom prst="roundRect">
            <a:avLst>
              <a:gd name="adj" fmla="val 18421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48640" y="1874520"/>
            <a:ext cx="365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C1D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960120" y="19385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Протокол и хэш — до прогона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960120" y="220370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что меряем и на каких данных — коммит в git; отложенный набор заморожен, его хэш записан</a:t>
            </a:r>
            <a:endParaRPr lang="en-US" sz="880" dirty="0"/>
          </a:p>
        </p:txBody>
      </p:sp>
      <p:sp>
        <p:nvSpPr>
          <p:cNvPr id="14" name="Shape 10"/>
          <p:cNvSpPr/>
          <p:nvPr/>
        </p:nvSpPr>
        <p:spPr>
          <a:xfrm>
            <a:off x="411480" y="2642616"/>
            <a:ext cx="4754880" cy="694944"/>
          </a:xfrm>
          <a:prstGeom prst="roundRect">
            <a:avLst>
              <a:gd name="adj" fmla="val 18421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48640" y="2642616"/>
            <a:ext cx="365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C1D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960120" y="270662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Один прогон на отложенных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960120" y="2971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настройка — только на обучающих данных; повторного отчётного прогона на тех же данных нет, лучший из нескольких не выбираем</a:t>
            </a:r>
            <a:endParaRPr lang="en-US" sz="880" dirty="0"/>
          </a:p>
        </p:txBody>
      </p:sp>
      <p:sp>
        <p:nvSpPr>
          <p:cNvPr id="18" name="Shape 14"/>
          <p:cNvSpPr/>
          <p:nvPr/>
        </p:nvSpPr>
        <p:spPr>
          <a:xfrm>
            <a:off x="411480" y="3410712"/>
            <a:ext cx="4754880" cy="694944"/>
          </a:xfrm>
          <a:prstGeom prst="roundRect">
            <a:avLst>
              <a:gd name="adj" fmla="val 18421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48640" y="3410712"/>
            <a:ext cx="365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C1D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960120" y="3474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Независимый пересчёт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960120" y="373989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независимый рецензент повторяет прогон в чистой копии репозитория и сверяет каждое поле</a:t>
            </a:r>
            <a:endParaRPr lang="en-US" sz="880" dirty="0"/>
          </a:p>
        </p:txBody>
      </p:sp>
      <p:sp>
        <p:nvSpPr>
          <p:cNvPr id="22" name="Shape 18"/>
          <p:cNvSpPr/>
          <p:nvPr/>
        </p:nvSpPr>
        <p:spPr>
          <a:xfrm>
            <a:off x="411480" y="4178808"/>
            <a:ext cx="4754880" cy="694944"/>
          </a:xfrm>
          <a:prstGeom prst="roundRect">
            <a:avLst>
              <a:gd name="adj" fmla="val 18421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48640" y="4178808"/>
            <a:ext cx="365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C1D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0"/>
          <p:cNvSpPr/>
          <p:nvPr/>
        </p:nvSpPr>
        <p:spPr>
          <a:xfrm>
            <a:off x="960120" y="424281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Две колонки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960120" y="45079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каждая метрика — в стандартных условиях и в проверке на прочность, рядом</a:t>
            </a:r>
            <a:endParaRPr lang="en-US" sz="880" dirty="0"/>
          </a:p>
        </p:txBody>
      </p:sp>
      <p:sp>
        <p:nvSpPr>
          <p:cNvPr id="26" name="Shape 22"/>
          <p:cNvSpPr/>
          <p:nvPr/>
        </p:nvSpPr>
        <p:spPr>
          <a:xfrm>
            <a:off x="411480" y="4946904"/>
            <a:ext cx="4754880" cy="694944"/>
          </a:xfrm>
          <a:prstGeom prst="roundRect">
            <a:avLst>
              <a:gd name="adj" fmla="val 18421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48640" y="4946904"/>
            <a:ext cx="365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C1D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4"/>
          <p:cNvSpPr/>
          <p:nvPr/>
        </p:nvSpPr>
        <p:spPr>
          <a:xfrm>
            <a:off x="960120" y="50109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Один файл цифр</a:t>
            </a:r>
            <a:endParaRPr lang="en-US" sz="1150" dirty="0"/>
          </a:p>
        </p:txBody>
      </p:sp>
      <p:sp>
        <p:nvSpPr>
          <p:cNvPr id="29" name="Text 25"/>
          <p:cNvSpPr/>
          <p:nvPr/>
        </p:nvSpPr>
        <p:spPr>
          <a:xfrm>
            <a:off x="960120" y="52760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docs/NUMBERS.json → сайт, README, документация и эти слайды; цифры руками не пишем</a:t>
            </a:r>
            <a:endParaRPr lang="en-US" sz="880" dirty="0"/>
          </a:p>
        </p:txBody>
      </p:sp>
      <p:sp>
        <p:nvSpPr>
          <p:cNvPr id="30" name="Shape 26"/>
          <p:cNvSpPr/>
          <p:nvPr/>
        </p:nvSpPr>
        <p:spPr>
          <a:xfrm>
            <a:off x="5394960" y="1874520"/>
            <a:ext cx="6355080" cy="3767328"/>
          </a:xfrm>
          <a:prstGeom prst="roundRect">
            <a:avLst>
              <a:gd name="adj" fmla="val 3398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596128" y="1965960"/>
            <a:ext cx="5989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E3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Журнал отчётных прогонов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9052560" y="19933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Что заморожено до прогона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5486400" y="2377440"/>
            <a:ext cx="6172200" cy="438912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5596128" y="237744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Тест на грейд — итоговый прогон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 = 3 000</a:t>
            </a:r>
            <a:endParaRPr lang="en-US" sz="950" dirty="0"/>
          </a:p>
        </p:txBody>
      </p:sp>
      <p:sp>
        <p:nvSpPr>
          <p:cNvPr id="35" name="Text 31"/>
          <p:cNvSpPr/>
          <p:nvPr/>
        </p:nvSpPr>
        <p:spPr>
          <a:xfrm>
            <a:off x="9052560" y="237744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банк заданий </a:t>
            </a: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913ad19f6a25</a:t>
            </a:r>
            <a:endParaRPr lang="en-US" sz="950" dirty="0"/>
          </a:p>
        </p:txBody>
      </p:sp>
      <p:sp>
        <p:nvSpPr>
          <p:cNvPr id="36" name="Text 32"/>
          <p:cNvSpPr/>
          <p:nvPr/>
        </p:nvSpPr>
        <p:spPr>
          <a:xfrm>
            <a:off x="5596128" y="283464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Подбор — отложенные миры</a:t>
            </a:r>
            <a:endParaRPr lang="en-US" sz="950" dirty="0"/>
          </a:p>
        </p:txBody>
      </p:sp>
      <p:sp>
        <p:nvSpPr>
          <p:cNvPr id="37" name="Text 33"/>
          <p:cNvSpPr/>
          <p:nvPr/>
        </p:nvSpPr>
        <p:spPr>
          <a:xfrm>
            <a:off x="9052560" y="283464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FREEZE </a:t>
            </a: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dcfffef39515</a:t>
            </a:r>
            <a:endParaRPr lang="en-US" sz="950" dirty="0"/>
          </a:p>
        </p:txBody>
      </p:sp>
      <p:sp>
        <p:nvSpPr>
          <p:cNvPr id="38" name="Shape 34"/>
          <p:cNvSpPr/>
          <p:nvPr/>
        </p:nvSpPr>
        <p:spPr>
          <a:xfrm>
            <a:off x="5486400" y="3291840"/>
            <a:ext cx="6172200" cy="438912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5596128" y="329184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Вакансии hh.ru — второй отложенный набор</a:t>
            </a:r>
            <a:endParaRPr lang="en-US" sz="950" dirty="0"/>
          </a:p>
        </p:txBody>
      </p:sp>
      <p:sp>
        <p:nvSpPr>
          <p:cNvPr id="40" name="Text 36"/>
          <p:cNvSpPr/>
          <p:nvPr/>
        </p:nvSpPr>
        <p:spPr>
          <a:xfrm>
            <a:off x="9052560" y="329184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список вакансий </a:t>
            </a: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2bb77a1cd8d7</a:t>
            </a:r>
            <a:endParaRPr lang="en-US" sz="950" dirty="0"/>
          </a:p>
        </p:txBody>
      </p:sp>
      <p:sp>
        <p:nvSpPr>
          <p:cNvPr id="41" name="Text 37"/>
          <p:cNvSpPr/>
          <p:nvPr/>
        </p:nvSpPr>
        <p:spPr>
          <a:xfrm>
            <a:off x="5596128" y="374904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Открытый набор вакансий и резюме</a:t>
            </a:r>
            <a:endParaRPr lang="en-US" sz="950" dirty="0"/>
          </a:p>
        </p:txBody>
      </p:sp>
      <p:sp>
        <p:nvSpPr>
          <p:cNvPr id="42" name="Text 38"/>
          <p:cNvSpPr/>
          <p:nvPr/>
        </p:nvSpPr>
        <p:spPr>
          <a:xfrm>
            <a:off x="9052560" y="374904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набор </a:t>
            </a: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f06ae238d62e</a:t>
            </a:r>
            <a:endParaRPr lang="en-US" sz="950" dirty="0"/>
          </a:p>
        </p:txBody>
      </p:sp>
      <p:sp>
        <p:nvSpPr>
          <p:cNvPr id="43" name="Shape 39"/>
          <p:cNvSpPr/>
          <p:nvPr/>
        </p:nvSpPr>
        <p:spPr>
          <a:xfrm>
            <a:off x="5486400" y="4206240"/>
            <a:ext cx="6172200" cy="438912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596128" y="420624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Защита проверки ответов — набор атак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один проход</a:t>
            </a:r>
            <a:endParaRPr lang="en-US" sz="950" dirty="0"/>
          </a:p>
        </p:txBody>
      </p:sp>
      <p:sp>
        <p:nvSpPr>
          <p:cNvPr id="45" name="Text 41"/>
          <p:cNvSpPr/>
          <p:nvPr/>
        </p:nvSpPr>
        <p:spPr>
          <a:xfrm>
            <a:off x="9052560" y="420624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набор атак </a:t>
            </a: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71c375aebb94</a:t>
            </a:r>
            <a:endParaRPr lang="en-US" sz="950" dirty="0"/>
          </a:p>
        </p:txBody>
      </p:sp>
      <p:sp>
        <p:nvSpPr>
          <p:cNvPr id="46" name="Text 42"/>
          <p:cNvSpPr/>
          <p:nvPr/>
        </p:nvSpPr>
        <p:spPr>
          <a:xfrm>
            <a:off x="5596128" y="4663440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Протоколы ФСП — ручная сверка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99 страниц</a:t>
            </a:r>
            <a:endParaRPr lang="en-US" sz="950" dirty="0"/>
          </a:p>
        </p:txBody>
      </p:sp>
      <p:sp>
        <p:nvSpPr>
          <p:cNvPr id="47" name="Text 43"/>
          <p:cNvSpPr/>
          <p:nvPr/>
        </p:nvSpPr>
        <p:spPr>
          <a:xfrm>
            <a:off x="9052560" y="466344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выборка </a:t>
            </a: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5922ee0e3899</a:t>
            </a:r>
            <a:endParaRPr lang="en-US" sz="950" dirty="0"/>
          </a:p>
        </p:txBody>
      </p:sp>
      <p:sp>
        <p:nvSpPr>
          <p:cNvPr id="48" name="Text 44"/>
          <p:cNvSpPr/>
          <p:nvPr/>
        </p:nvSpPr>
        <p:spPr>
          <a:xfrm>
            <a:off x="411480" y="5760720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EA3D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Хэш — начало SHA-256 из docs/NUMBERS.json. Где кандидаты модельные, а не люди, — это написано рядом с каждой цифрой.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space/w/a10/docs/presentation/assets/logos_organiz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329184"/>
            <a:ext cx="4882896" cy="3383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01752"/>
            <a:ext cx="1120140" cy="402336"/>
          </a:xfrm>
          <a:prstGeom prst="roundRect">
            <a:avLst>
              <a:gd name="adj" fmla="val 27273"/>
            </a:avLst>
          </a:prstGeom>
          <a:solidFill>
            <a:srgbClr val="EC1D35"/>
          </a:solidFill>
          <a:ln w="12700">
            <a:solidFill>
              <a:srgbClr val="EC1D35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301752"/>
            <a:ext cx="11201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РЕШЕНИЕ</a:t>
            </a:r>
            <a:endParaRPr lang="en-US" sz="1100" dirty="0"/>
          </a:p>
        </p:txBody>
      </p:sp>
      <p:pic>
        <p:nvPicPr>
          <p:cNvPr id="5" name="Image 1" descr="/home/user/workspace/w/a10/docs/presentation/assets/logo_fs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400800"/>
            <a:ext cx="2167128" cy="2743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743200" y="6400800"/>
            <a:ext cx="18288" cy="274320"/>
          </a:xfrm>
          <a:prstGeom prst="rect">
            <a:avLst/>
          </a:prstGeom>
          <a:solidFill>
            <a:srgbClr val="9EA3D9"/>
          </a:solidFill>
          <a:ln w="12700">
            <a:solidFill>
              <a:srgbClr val="9EA3D9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880360" y="6355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Драфт</a:t>
            </a:r>
            <a:r>
              <a:rPr lang="en-US" sz="110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fsp-draft.ru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1247120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11480" y="868680"/>
            <a:ext cx="11338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Наоборот: компания сама приходит</a:t>
            </a:r>
            <a:endParaRPr lang="en-US" sz="3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 кандидату, чей уровень доказан</a:t>
            </a:r>
            <a:endParaRPr lang="en-US" sz="3000" dirty="0"/>
          </a:p>
        </p:txBody>
      </p:sp>
      <p:sp>
        <p:nvSpPr>
          <p:cNvPr id="10" name="Text 6"/>
          <p:cNvSpPr/>
          <p:nvPr/>
        </p:nvSpPr>
        <p:spPr>
          <a:xfrm>
            <a:off x="411480" y="2560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C1D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КАНДИДАТ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2148840" y="2148840"/>
            <a:ext cx="3017520" cy="1417320"/>
          </a:xfrm>
          <a:prstGeom prst="roundRect">
            <a:avLst>
              <a:gd name="adj" fmla="val 903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331720" y="2331720"/>
            <a:ext cx="402336" cy="402336"/>
          </a:xfrm>
          <a:prstGeom prst="ellipse">
            <a:avLst/>
          </a:prstGeom>
          <a:solidFill>
            <a:srgbClr val="EC1D35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331720" y="2331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862072" y="2276856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Регистрация и опрос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331720" y="2862072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почта с подтверждением, направление, стек, желаемый грейд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166360" y="2862072"/>
            <a:ext cx="228600" cy="0"/>
          </a:xfrm>
          <a:prstGeom prst="line">
            <a:avLst/>
          </a:prstGeom>
          <a:noFill/>
          <a:ln w="19050">
            <a:solidFill>
              <a:srgbClr val="A59DFF"/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5394960" y="2148840"/>
            <a:ext cx="3017520" cy="1417320"/>
          </a:xfrm>
          <a:prstGeom prst="roundRect">
            <a:avLst>
              <a:gd name="adj" fmla="val 903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577840" y="2331720"/>
            <a:ext cx="402336" cy="402336"/>
          </a:xfrm>
          <a:prstGeom prst="ellipse">
            <a:avLst/>
          </a:prstGeom>
          <a:solidFill>
            <a:srgbClr val="EC1D35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577840" y="2331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108192" y="2276856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Тест вместо резюме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5577840" y="2862072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адаптивный: следующее задание зависит от ответов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8412480" y="2862072"/>
            <a:ext cx="228600" cy="0"/>
          </a:xfrm>
          <a:prstGeom prst="line">
            <a:avLst/>
          </a:prstGeom>
          <a:noFill/>
          <a:ln w="19050">
            <a:solidFill>
              <a:srgbClr val="A59DFF"/>
            </a:solidFill>
            <a:prstDash val="solid"/>
            <a:tailEnd type="triangle"/>
          </a:ln>
        </p:spPr>
      </p:sp>
      <p:sp>
        <p:nvSpPr>
          <p:cNvPr id="23" name="Shape 19"/>
          <p:cNvSpPr/>
          <p:nvPr/>
        </p:nvSpPr>
        <p:spPr>
          <a:xfrm>
            <a:off x="8641080" y="2148840"/>
            <a:ext cx="3017520" cy="1417320"/>
          </a:xfrm>
          <a:prstGeom prst="roundRect">
            <a:avLst>
              <a:gd name="adj" fmla="val 903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8823960" y="2331720"/>
            <a:ext cx="402336" cy="402336"/>
          </a:xfrm>
          <a:prstGeom prst="ellipse">
            <a:avLst/>
          </a:prstGeom>
          <a:solidFill>
            <a:srgbClr val="EC1D35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823960" y="2331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9354312" y="2276856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Категория «направление · грейд»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8823960" y="2862072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только по тесту; достижения ФСП — по протоколам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411480" y="4251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59D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РАБОТОДАТЕЛЬ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2148840" y="3840480"/>
            <a:ext cx="3017520" cy="1417320"/>
          </a:xfrm>
          <a:prstGeom prst="roundRect">
            <a:avLst>
              <a:gd name="adj" fmla="val 903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2331720" y="4023360"/>
            <a:ext cx="402336" cy="402336"/>
          </a:xfrm>
          <a:prstGeom prst="ellipse">
            <a:avLst/>
          </a:prstGeom>
          <a:solidFill>
            <a:srgbClr val="402FFF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2331720" y="4023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2862072" y="3968496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Потребность своими словами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2331720" y="4553712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текст или файл вакансии; требования — с цитатой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5166360" y="4553712"/>
            <a:ext cx="228600" cy="0"/>
          </a:xfrm>
          <a:prstGeom prst="line">
            <a:avLst/>
          </a:prstGeom>
          <a:noFill/>
          <a:ln w="19050">
            <a:solidFill>
              <a:srgbClr val="A59DFF"/>
            </a:solidFill>
            <a:prstDash val="solid"/>
            <a:tailEnd type="triangle"/>
          </a:ln>
        </p:spPr>
      </p:sp>
      <p:sp>
        <p:nvSpPr>
          <p:cNvPr id="35" name="Shape 31"/>
          <p:cNvSpPr/>
          <p:nvPr/>
        </p:nvSpPr>
        <p:spPr>
          <a:xfrm>
            <a:off x="5394960" y="3840480"/>
            <a:ext cx="3017520" cy="1417320"/>
          </a:xfrm>
          <a:prstGeom prst="roundRect">
            <a:avLst>
              <a:gd name="adj" fmla="val 903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5577840" y="4023360"/>
            <a:ext cx="402336" cy="402336"/>
          </a:xfrm>
          <a:prstGeom prst="ellipse">
            <a:avLst/>
          </a:prstGeom>
          <a:solidFill>
            <a:srgbClr val="402FFF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5577840" y="4023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300" dirty="0"/>
          </a:p>
        </p:txBody>
      </p:sp>
      <p:sp>
        <p:nvSpPr>
          <p:cNvPr id="38" name="Text 34"/>
          <p:cNvSpPr/>
          <p:nvPr/>
        </p:nvSpPr>
        <p:spPr>
          <a:xfrm>
            <a:off x="6108192" y="3968496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Подборка с объяснением</a:t>
            </a:r>
            <a:endParaRPr lang="en-US" sz="1300" dirty="0"/>
          </a:p>
        </p:txBody>
      </p:sp>
      <p:sp>
        <p:nvSpPr>
          <p:cNvPr id="39" name="Text 35"/>
          <p:cNvSpPr/>
          <p:nvPr/>
        </p:nvSpPr>
        <p:spPr>
          <a:xfrm>
            <a:off x="5577840" y="4553712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обезличенные карточки: почему кандидат здесь</a:t>
            </a:r>
            <a:endParaRPr lang="en-US" sz="1100" dirty="0"/>
          </a:p>
        </p:txBody>
      </p:sp>
      <p:sp>
        <p:nvSpPr>
          <p:cNvPr id="40" name="Shape 36"/>
          <p:cNvSpPr/>
          <p:nvPr/>
        </p:nvSpPr>
        <p:spPr>
          <a:xfrm>
            <a:off x="8412480" y="4553712"/>
            <a:ext cx="228600" cy="0"/>
          </a:xfrm>
          <a:prstGeom prst="line">
            <a:avLst/>
          </a:prstGeom>
          <a:noFill/>
          <a:ln w="19050">
            <a:solidFill>
              <a:srgbClr val="A59DFF"/>
            </a:solidFill>
            <a:prstDash val="solid"/>
            <a:tailEnd type="triangle"/>
          </a:ln>
        </p:spPr>
      </p:sp>
      <p:sp>
        <p:nvSpPr>
          <p:cNvPr id="41" name="Shape 37"/>
          <p:cNvSpPr/>
          <p:nvPr/>
        </p:nvSpPr>
        <p:spPr>
          <a:xfrm>
            <a:off x="8641080" y="3840480"/>
            <a:ext cx="3017520" cy="1417320"/>
          </a:xfrm>
          <a:prstGeom prst="roundRect">
            <a:avLst>
              <a:gd name="adj" fmla="val 903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8823960" y="4023360"/>
            <a:ext cx="402336" cy="402336"/>
          </a:xfrm>
          <a:prstGeom prst="ellipse">
            <a:avLst/>
          </a:prstGeom>
          <a:solidFill>
            <a:srgbClr val="402FFF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8823960" y="4023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300" dirty="0"/>
          </a:p>
        </p:txBody>
      </p:sp>
      <p:sp>
        <p:nvSpPr>
          <p:cNvPr id="44" name="Text 40"/>
          <p:cNvSpPr/>
          <p:nvPr/>
        </p:nvSpPr>
        <p:spPr>
          <a:xfrm>
            <a:off x="9354312" y="3968496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Приглашение с вилкой</a:t>
            </a:r>
            <a:endParaRPr lang="en-US" sz="1300" dirty="0"/>
          </a:p>
        </p:txBody>
      </p:sp>
      <p:sp>
        <p:nvSpPr>
          <p:cNvPr id="45" name="Text 41"/>
          <p:cNvSpPr/>
          <p:nvPr/>
        </p:nvSpPr>
        <p:spPr>
          <a:xfrm>
            <a:off x="8823960" y="4553712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зарплата «от–до» обязательна; контакты — после согласия</a:t>
            </a:r>
            <a:endParaRPr lang="en-US" sz="1100" dirty="0"/>
          </a:p>
        </p:txBody>
      </p:sp>
      <p:sp>
        <p:nvSpPr>
          <p:cNvPr id="46" name="Text 42"/>
          <p:cNvSpPr/>
          <p:nvPr/>
        </p:nvSpPr>
        <p:spPr>
          <a:xfrm>
            <a:off x="411480" y="5623560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EA3D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Кандидат без истории ФСП ничего не теряет: составляющая ФСП в подборке у него просто равна нулю, без штрафа.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space/w/a10/docs/presentation/assets/logos_organiz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329184"/>
            <a:ext cx="4882896" cy="3383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01752"/>
            <a:ext cx="2066544" cy="402336"/>
          </a:xfrm>
          <a:prstGeom prst="roundRect">
            <a:avLst>
              <a:gd name="adj" fmla="val 27273"/>
            </a:avLst>
          </a:prstGeom>
          <a:solidFill>
            <a:srgbClr val="EC1D35"/>
          </a:solidFill>
          <a:ln w="12700">
            <a:solidFill>
              <a:srgbClr val="EC1D35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301752"/>
            <a:ext cx="2066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МЕХАНИКА ПОДБОРА</a:t>
            </a:r>
            <a:endParaRPr lang="en-US" sz="1100" dirty="0"/>
          </a:p>
        </p:txBody>
      </p:sp>
      <p:pic>
        <p:nvPicPr>
          <p:cNvPr id="5" name="Image 1" descr="/home/user/workspace/w/a10/docs/presentation/assets/logo_fs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400800"/>
            <a:ext cx="2167128" cy="2743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743200" y="6400800"/>
            <a:ext cx="18288" cy="274320"/>
          </a:xfrm>
          <a:prstGeom prst="rect">
            <a:avLst/>
          </a:prstGeom>
          <a:solidFill>
            <a:srgbClr val="9EA3D9"/>
          </a:solidFill>
          <a:ln w="12700">
            <a:solidFill>
              <a:srgbClr val="9EA3D9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880360" y="6355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Драфт</a:t>
            </a:r>
            <a:r>
              <a:rPr lang="en-US" sz="110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fsp-draft.ru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1247120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11480" y="868680"/>
            <a:ext cx="11338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Подборка из подтверждённых фактов —</a:t>
            </a:r>
            <a:endParaRPr lang="en-US" sz="3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 объяснение у каждого кандидата</a:t>
            </a:r>
            <a:endParaRPr lang="en-US" sz="3000" dirty="0"/>
          </a:p>
        </p:txBody>
      </p:sp>
      <p:sp>
        <p:nvSpPr>
          <p:cNvPr id="10" name="Shape 6"/>
          <p:cNvSpPr/>
          <p:nvPr/>
        </p:nvSpPr>
        <p:spPr>
          <a:xfrm>
            <a:off x="411480" y="2103120"/>
            <a:ext cx="5120640" cy="3611880"/>
          </a:xfrm>
          <a:prstGeom prst="roundRect">
            <a:avLst>
              <a:gd name="adj" fmla="val 3544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40080" y="22402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Из чего складывается место в подборке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40080" y="2788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Результат теста по грейду и навыкам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3429000" y="2880360"/>
            <a:ext cx="1316736" cy="237744"/>
          </a:xfrm>
          <a:prstGeom prst="roundRect">
            <a:avLst>
              <a:gd name="adj" fmla="val 19231"/>
            </a:avLst>
          </a:prstGeom>
          <a:solidFill>
            <a:srgbClr val="402FFF"/>
          </a:solidFill>
          <a:ln w="12700">
            <a:solidFill>
              <a:srgbClr val="402FF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892040" y="27889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45 %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40080" y="3337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Обязательный стек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3429000" y="3429000"/>
            <a:ext cx="1024128" cy="237744"/>
          </a:xfrm>
          <a:prstGeom prst="roundRect">
            <a:avLst>
              <a:gd name="adj" fmla="val 19231"/>
            </a:avLst>
          </a:prstGeom>
          <a:solidFill>
            <a:srgbClr val="A59DFF"/>
          </a:solidFill>
          <a:ln w="12700">
            <a:solidFill>
              <a:srgbClr val="A59DF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892040" y="333756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35 %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40080" y="38862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Желательный стек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3429000" y="3977640"/>
            <a:ext cx="146304" cy="237744"/>
          </a:xfrm>
          <a:prstGeom prst="roundRect">
            <a:avLst>
              <a:gd name="adj" fmla="val 31250"/>
            </a:avLst>
          </a:prstGeom>
          <a:solidFill>
            <a:srgbClr val="7C74E8"/>
          </a:solidFill>
          <a:ln w="12700">
            <a:solidFill>
              <a:srgbClr val="7C74E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892040" y="38862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5 %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640080" y="4434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Подтверждённые достижения ФСП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3429000" y="4526280"/>
            <a:ext cx="292608" cy="237744"/>
          </a:xfrm>
          <a:prstGeom prst="roundRect">
            <a:avLst>
              <a:gd name="adj" fmla="val 19231"/>
            </a:avLst>
          </a:prstGeom>
          <a:solidFill>
            <a:srgbClr val="EC1D35"/>
          </a:solidFill>
          <a:ln w="12700">
            <a:solidFill>
              <a:srgbClr val="EC1D35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892040" y="44348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10 %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640080" y="49834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Короткое задание работодателя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3429000" y="5074920"/>
            <a:ext cx="146304" cy="237744"/>
          </a:xfrm>
          <a:prstGeom prst="roundRect">
            <a:avLst>
              <a:gd name="adj" fmla="val 31250"/>
            </a:avLst>
          </a:prstGeom>
          <a:solidFill>
            <a:srgbClr val="4BE3A3"/>
          </a:solidFill>
          <a:ln w="12700">
            <a:solidFill>
              <a:srgbClr val="4BE3A3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892040" y="49834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5 %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640080" y="5257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EA3D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Доли — из кода ранжирования (backend/app/modules/matching/ranking.py).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5760720" y="2103120"/>
            <a:ext cx="5989320" cy="1115568"/>
          </a:xfrm>
          <a:prstGeom prst="roundRect">
            <a:avLst>
              <a:gd name="adj" fmla="val 11475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961888" y="2286000"/>
            <a:ext cx="5586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Грейд — только подтверждённый</a:t>
            </a:r>
            <a:endParaRPr lang="en-US" sz="1350" dirty="0"/>
          </a:p>
        </p:txBody>
      </p:sp>
      <p:sp>
        <p:nvSpPr>
          <p:cNvPr id="30" name="Text 26"/>
          <p:cNvSpPr/>
          <p:nvPr/>
        </p:nvSpPr>
        <p:spPr>
          <a:xfrm>
            <a:off x="5961888" y="2743200"/>
            <a:ext cx="55869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Фильтр категории работает по тесту, не по резюме. Без подтверждения кандидат виден по направлению, последним и с пометкой.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5760720" y="3328416"/>
            <a:ext cx="5989320" cy="1115568"/>
          </a:xfrm>
          <a:prstGeom prst="roundRect">
            <a:avLst>
              <a:gd name="adj" fmla="val 11475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5961888" y="3511296"/>
            <a:ext cx="5586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ФСП — бонус, а не штраф</a:t>
            </a:r>
            <a:endParaRPr lang="en-US" sz="1350" dirty="0"/>
          </a:p>
        </p:txBody>
      </p:sp>
      <p:sp>
        <p:nvSpPr>
          <p:cNvPr id="33" name="Text 29"/>
          <p:cNvSpPr/>
          <p:nvPr/>
        </p:nvSpPr>
        <p:spPr>
          <a:xfrm>
            <a:off x="5961888" y="3968496"/>
            <a:ext cx="55869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«Подтверждено ФСП» — полный вес, «ждёт подтверждения» — половина, заявлено без документа — ноль.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5760720" y="4553712"/>
            <a:ext cx="5989320" cy="1115568"/>
          </a:xfrm>
          <a:prstGeom prst="roundRect">
            <a:avLst>
              <a:gd name="adj" fmla="val 11475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5961888" y="4736592"/>
            <a:ext cx="5586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Уточнение без потери</a:t>
            </a:r>
            <a:endParaRPr lang="en-US" sz="1350" dirty="0"/>
          </a:p>
        </p:txBody>
      </p:sp>
      <p:sp>
        <p:nvSpPr>
          <p:cNvPr id="36" name="Text 32"/>
          <p:cNvSpPr/>
          <p:nvPr/>
        </p:nvSpPr>
        <p:spPr>
          <a:xfrm>
            <a:off x="5961888" y="5193792"/>
            <a:ext cx="55869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Каждый фильтр создаёт новую версию подборки; прежние сохраняются и сравниваются.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space/w/a10/docs/presentation/assets/logos_organiz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329184"/>
            <a:ext cx="4882896" cy="3383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01752"/>
            <a:ext cx="1645920" cy="402336"/>
          </a:xfrm>
          <a:prstGeom prst="roundRect">
            <a:avLst>
              <a:gd name="adj" fmla="val 27273"/>
            </a:avLst>
          </a:prstGeom>
          <a:solidFill>
            <a:srgbClr val="EC1D35"/>
          </a:solidFill>
          <a:ln w="12700">
            <a:solidFill>
              <a:srgbClr val="EC1D35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30175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ТЕСТИРОВАНИЕ</a:t>
            </a:r>
            <a:endParaRPr lang="en-US" sz="1100" dirty="0"/>
          </a:p>
        </p:txBody>
      </p:sp>
      <p:pic>
        <p:nvPicPr>
          <p:cNvPr id="5" name="Image 1" descr="/home/user/workspace/w/a10/docs/presentation/assets/logo_fs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400800"/>
            <a:ext cx="2167128" cy="2743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743200" y="6400800"/>
            <a:ext cx="18288" cy="274320"/>
          </a:xfrm>
          <a:prstGeom prst="rect">
            <a:avLst/>
          </a:prstGeom>
          <a:solidFill>
            <a:srgbClr val="9EA3D9"/>
          </a:solidFill>
          <a:ln w="12700">
            <a:solidFill>
              <a:srgbClr val="9EA3D9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880360" y="6355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Драфт</a:t>
            </a:r>
            <a:r>
              <a:rPr lang="en-US" sz="110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fsp-draft.ru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1247120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11480" y="868680"/>
            <a:ext cx="11338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Свой вариант у каждого —</a:t>
            </a:r>
            <a:endParaRPr lang="en-US" sz="3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сложность сопоставима</a:t>
            </a:r>
            <a:endParaRPr lang="en-US" sz="3000" dirty="0"/>
          </a:p>
        </p:txBody>
      </p:sp>
      <p:sp>
        <p:nvSpPr>
          <p:cNvPr id="10" name="Text 6"/>
          <p:cNvSpPr/>
          <p:nvPr/>
        </p:nvSpPr>
        <p:spPr>
          <a:xfrm>
            <a:off x="411480" y="19659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1 646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411480" y="253288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семейств заданий в банке: генераторы, а не готовые вопросы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3154680" y="19659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32 896</a:t>
            </a:r>
            <a:endParaRPr lang="en-US" sz="3000" dirty="0"/>
          </a:p>
        </p:txBody>
      </p:sp>
      <p:sp>
        <p:nvSpPr>
          <p:cNvPr id="13" name="Text 9"/>
          <p:cNvSpPr/>
          <p:nvPr/>
        </p:nvSpPr>
        <p:spPr>
          <a:xfrm>
            <a:off x="3154680" y="253288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уникальных вариантов на проверке банка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897880" y="19659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5897880" y="253288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ошибок в ключах: каждый вариант с кодом проверяется исполнением эталонного решения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11480" y="3429000"/>
            <a:ext cx="2697480" cy="2240280"/>
          </a:xfrm>
          <a:prstGeom prst="roundRect">
            <a:avLst>
              <a:gd name="adj" fmla="val 5714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12648" y="3648456"/>
            <a:ext cx="384048" cy="54864"/>
          </a:xfrm>
          <a:prstGeom prst="rect">
            <a:avLst/>
          </a:prstGeom>
          <a:solidFill>
            <a:srgbClr val="EC1D35"/>
          </a:solidFill>
          <a:ln w="12700">
            <a:solidFill>
              <a:srgbClr val="EC1D3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12648" y="3776472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Адаптивный тест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12648" y="4233672"/>
            <a:ext cx="229514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Следующее задание подбирается по ответам; около трети — практика: код и развёрнутый ответ.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3273552" y="3429000"/>
            <a:ext cx="2697480" cy="2240280"/>
          </a:xfrm>
          <a:prstGeom prst="roundRect">
            <a:avLst>
              <a:gd name="adj" fmla="val 5714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474720" y="3648456"/>
            <a:ext cx="384048" cy="54864"/>
          </a:xfrm>
          <a:prstGeom prst="rect">
            <a:avLst/>
          </a:prstGeom>
          <a:solidFill>
            <a:srgbClr val="A59DFF"/>
          </a:solidFill>
          <a:ln w="12700">
            <a:solidFill>
              <a:srgbClr val="A59DF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474720" y="3776472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Три исхода вердикта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3474720" y="4233672"/>
            <a:ext cx="229514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Грейд подтверждён · не подтверждён · у самой границы — короткий второй этап вместо угадывания.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6135624" y="3429000"/>
            <a:ext cx="2697480" cy="2240280"/>
          </a:xfrm>
          <a:prstGeom prst="roundRect">
            <a:avLst>
              <a:gd name="adj" fmla="val 5714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336792" y="3648456"/>
            <a:ext cx="384048" cy="54864"/>
          </a:xfrm>
          <a:prstGeom prst="rect">
            <a:avLst/>
          </a:prstGeom>
          <a:solidFill>
            <a:srgbClr val="4BE3A3"/>
          </a:solidFill>
          <a:ln w="12700">
            <a:solidFill>
              <a:srgbClr val="4BE3A3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336792" y="3776472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Утечка почти не помогает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6336792" y="4233672"/>
            <a:ext cx="229514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Варианты по зерну, контроль частоты показа, повтор — на новых семействах, ключи только на сервере.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8997696" y="3429000"/>
            <a:ext cx="2697480" cy="2240280"/>
          </a:xfrm>
          <a:prstGeom prst="roundRect">
            <a:avLst>
              <a:gd name="adj" fmla="val 5714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9198864" y="3648456"/>
            <a:ext cx="384048" cy="54864"/>
          </a:xfrm>
          <a:prstGeom prst="rect">
            <a:avLst/>
          </a:prstGeom>
          <a:solidFill>
            <a:srgbClr val="402FFF"/>
          </a:solidFill>
          <a:ln w="12700">
            <a:solidFill>
              <a:srgbClr val="402FFF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9198864" y="3776472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Честность без автобана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9198864" y="4233672"/>
            <a:ext cx="2295144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Два и больше сигнала (вкладки, вставка, время) — дополнительная проверка: задания у порога или устная защита.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411480" y="5779008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EA3D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Автоматическая проверка банка: 20 вариантов-зёрен на каждое семейство, коммит банка ab16d27, 21.10.2026. Повтор на тот же грейд — через 30 дней, смена подтверждённого грейда — раз в 90 дней.</a:t>
            </a:r>
            <a:endParaRPr lang="en-US" sz="950" dirty="0"/>
          </a:p>
        </p:txBody>
      </p:sp>
      <p:pic>
        <p:nvPicPr>
          <p:cNvPr id="33" name="Image 2" descr="/home/user/workspace/w/a10/docs/presentation/assets/deco_med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914400"/>
            <a:ext cx="237744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space/w/a10/docs/presentation/assets/logos_organiz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329184"/>
            <a:ext cx="4882896" cy="3383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01752"/>
            <a:ext cx="2907792" cy="402336"/>
          </a:xfrm>
          <a:prstGeom prst="roundRect">
            <a:avLst>
              <a:gd name="adj" fmla="val 27273"/>
            </a:avLst>
          </a:prstGeom>
          <a:solidFill>
            <a:srgbClr val="EC1D35"/>
          </a:solidFill>
          <a:ln w="12700">
            <a:solidFill>
              <a:srgbClr val="EC1D35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301752"/>
            <a:ext cx="2907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ТЕСТИРОВАНИЕ И ВАЛИДАЦИЯ</a:t>
            </a:r>
            <a:endParaRPr lang="en-US" sz="1100" dirty="0"/>
          </a:p>
        </p:txBody>
      </p:sp>
      <p:pic>
        <p:nvPicPr>
          <p:cNvPr id="5" name="Image 1" descr="/home/user/workspace/w/a10/docs/presentation/assets/logo_fs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400800"/>
            <a:ext cx="2167128" cy="2743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743200" y="6400800"/>
            <a:ext cx="18288" cy="274320"/>
          </a:xfrm>
          <a:prstGeom prst="rect">
            <a:avLst/>
          </a:prstGeom>
          <a:solidFill>
            <a:srgbClr val="9EA3D9"/>
          </a:solidFill>
          <a:ln w="12700">
            <a:solidFill>
              <a:srgbClr val="9EA3D9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880360" y="6355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Драфт</a:t>
            </a:r>
            <a:r>
              <a:rPr lang="en-US" sz="110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fsp-draft.ru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1247120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11480" y="868680"/>
            <a:ext cx="11338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Процедура, которой можно не верить</a:t>
            </a:r>
            <a:endParaRPr lang="en-US" sz="3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 слово — её можно повторить</a:t>
            </a:r>
            <a:endParaRPr lang="en-US" sz="3000" dirty="0"/>
          </a:p>
        </p:txBody>
      </p:sp>
      <p:sp>
        <p:nvSpPr>
          <p:cNvPr id="10" name="Shape 6"/>
          <p:cNvSpPr/>
          <p:nvPr/>
        </p:nvSpPr>
        <p:spPr>
          <a:xfrm>
            <a:off x="411480" y="2148840"/>
            <a:ext cx="2103120" cy="1463040"/>
          </a:xfrm>
          <a:prstGeom prst="roundRect">
            <a:avLst>
              <a:gd name="adj" fmla="val 875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94360" y="22585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C1D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594360" y="267004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Протокол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94360" y="303580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что и как меряем — коммит до прогона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2514600" y="2880360"/>
            <a:ext cx="182880" cy="0"/>
          </a:xfrm>
          <a:prstGeom prst="line">
            <a:avLst/>
          </a:prstGeom>
          <a:noFill/>
          <a:ln w="19050">
            <a:solidFill>
              <a:srgbClr val="A59DFF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2697480" y="2148840"/>
            <a:ext cx="2103120" cy="1463040"/>
          </a:xfrm>
          <a:prstGeom prst="roundRect">
            <a:avLst>
              <a:gd name="adj" fmla="val 875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880360" y="22585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C1D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2880360" y="267004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Заморозка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2880360" y="303580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отложенный набор, хэш в git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4800600" y="2880360"/>
            <a:ext cx="182880" cy="0"/>
          </a:xfrm>
          <a:prstGeom prst="line">
            <a:avLst/>
          </a:prstGeom>
          <a:noFill/>
          <a:ln w="19050">
            <a:solidFill>
              <a:srgbClr val="A59DFF"/>
            </a:solidFill>
            <a:prstDash val="solid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4983480" y="2148840"/>
            <a:ext cx="2103120" cy="1463040"/>
          </a:xfrm>
          <a:prstGeom prst="roundRect">
            <a:avLst>
              <a:gd name="adj" fmla="val 875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166360" y="22585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C1D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18"/>
          <p:cNvSpPr/>
          <p:nvPr/>
        </p:nvSpPr>
        <p:spPr>
          <a:xfrm>
            <a:off x="5166360" y="267004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Настройка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5166360" y="303580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только на обучающих данных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7086600" y="2880360"/>
            <a:ext cx="182880" cy="0"/>
          </a:xfrm>
          <a:prstGeom prst="line">
            <a:avLst/>
          </a:prstGeom>
          <a:noFill/>
          <a:ln w="19050">
            <a:solidFill>
              <a:srgbClr val="A59DFF"/>
            </a:solidFill>
            <a:prstDash val="solid"/>
            <a:tailEnd type="triangle"/>
          </a:ln>
        </p:spPr>
      </p:sp>
      <p:sp>
        <p:nvSpPr>
          <p:cNvPr id="25" name="Shape 21"/>
          <p:cNvSpPr/>
          <p:nvPr/>
        </p:nvSpPr>
        <p:spPr>
          <a:xfrm>
            <a:off x="7269480" y="2148840"/>
            <a:ext cx="2103120" cy="1463040"/>
          </a:xfrm>
          <a:prstGeom prst="roundRect">
            <a:avLst>
              <a:gd name="adj" fmla="val 875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7452360" y="22585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C1D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3"/>
          <p:cNvSpPr/>
          <p:nvPr/>
        </p:nvSpPr>
        <p:spPr>
          <a:xfrm>
            <a:off x="7452360" y="267004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Один прогон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7452360" y="303580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 отложенных данных, без выбора лучшего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9372600" y="2880360"/>
            <a:ext cx="182880" cy="0"/>
          </a:xfrm>
          <a:prstGeom prst="line">
            <a:avLst/>
          </a:prstGeom>
          <a:noFill/>
          <a:ln w="19050">
            <a:solidFill>
              <a:srgbClr val="A59DFF"/>
            </a:solidFill>
            <a:prstDash val="solid"/>
            <a:tailEnd type="triangle"/>
          </a:ln>
        </p:spPr>
      </p:sp>
      <p:sp>
        <p:nvSpPr>
          <p:cNvPr id="30" name="Shape 26"/>
          <p:cNvSpPr/>
          <p:nvPr/>
        </p:nvSpPr>
        <p:spPr>
          <a:xfrm>
            <a:off x="9555480" y="2148840"/>
            <a:ext cx="2103120" cy="1463040"/>
          </a:xfrm>
          <a:prstGeom prst="roundRect">
            <a:avLst>
              <a:gd name="adj" fmla="val 875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9738360" y="22585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C1D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Text 28"/>
          <p:cNvSpPr/>
          <p:nvPr/>
        </p:nvSpPr>
        <p:spPr>
          <a:xfrm>
            <a:off x="9738360" y="267004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Один файл цифр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9738360" y="303580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NUMBERS.json → сайт, документы, слайды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411480" y="3840480"/>
            <a:ext cx="3639312" cy="1783080"/>
          </a:xfrm>
          <a:prstGeom prst="roundRect">
            <a:avLst>
              <a:gd name="adj" fmla="val 7179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12648" y="4023360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Тест</a:t>
            </a:r>
            <a:endParaRPr lang="en-US" sz="1350" dirty="0"/>
          </a:p>
        </p:txBody>
      </p:sp>
      <p:sp>
        <p:nvSpPr>
          <p:cNvPr id="36" name="Text 32"/>
          <p:cNvSpPr/>
          <p:nvPr/>
        </p:nvSpPr>
        <p:spPr>
          <a:xfrm>
            <a:off x="612648" y="4480560"/>
            <a:ext cx="32369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Модельные кандидаты с известным уровнем проходят тот же движок, что на сайте; три «мира»: точные параметры, неточная трудность заданий, ошибки проверки.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4224528" y="3840480"/>
            <a:ext cx="3639312" cy="1783080"/>
          </a:xfrm>
          <a:prstGeom prst="roundRect">
            <a:avLst>
              <a:gd name="adj" fmla="val 7179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4425696" y="4023360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Подбор</a:t>
            </a:r>
            <a:endParaRPr lang="en-US" sz="1350" dirty="0"/>
          </a:p>
        </p:txBody>
      </p:sp>
      <p:sp>
        <p:nvSpPr>
          <p:cNvPr id="39" name="Text 35"/>
          <p:cNvSpPr/>
          <p:nvPr/>
        </p:nvSpPr>
        <p:spPr>
          <a:xfrm>
            <a:off x="4425696" y="4480560"/>
            <a:ext cx="32369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Отложенные синтетические миры с известной релевантностью; сравнение с поиском по тексту резюме и с подбором без теста.</a:t>
            </a:r>
            <a:endParaRPr lang="en-US" sz="1100" dirty="0"/>
          </a:p>
        </p:txBody>
      </p:sp>
      <p:sp>
        <p:nvSpPr>
          <p:cNvPr id="40" name="Shape 36"/>
          <p:cNvSpPr/>
          <p:nvPr/>
        </p:nvSpPr>
        <p:spPr>
          <a:xfrm>
            <a:off x="8037576" y="3840480"/>
            <a:ext cx="3639312" cy="1783080"/>
          </a:xfrm>
          <a:prstGeom prst="roundRect">
            <a:avLst>
              <a:gd name="adj" fmla="val 7179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8238744" y="4023360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Реальные данные</a:t>
            </a:r>
            <a:endParaRPr lang="en-US" sz="1350" dirty="0"/>
          </a:p>
        </p:txBody>
      </p:sp>
      <p:sp>
        <p:nvSpPr>
          <p:cNvPr id="42" name="Text 38"/>
          <p:cNvSpPr/>
          <p:nvPr/>
        </p:nvSpPr>
        <p:spPr>
          <a:xfrm>
            <a:off x="8238744" y="4480560"/>
            <a:ext cx="32369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Вакансии hh.ru — разбор потребности; официальные протоколы ФСП — сверка достижений; защита проверки — отложенный набор атак.</a:t>
            </a:r>
            <a:endParaRPr lang="en-US" sz="1100" dirty="0"/>
          </a:p>
        </p:txBody>
      </p:sp>
      <p:sp>
        <p:nvSpPr>
          <p:cNvPr id="43" name="Text 39"/>
          <p:cNvSpPr/>
          <p:nvPr/>
        </p:nvSpPr>
        <p:spPr>
          <a:xfrm>
            <a:off x="411480" y="5779008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EA3D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Где кандидаты модельные — это написано рядом с цифрой. Пересчёт любой цифры — одной командой, указанной в docs/NUMBERS.json.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space/w/a10/docs/presentation/assets/logos_organiz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329184"/>
            <a:ext cx="4882896" cy="3383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01752"/>
            <a:ext cx="1751076" cy="402336"/>
          </a:xfrm>
          <a:prstGeom prst="roundRect">
            <a:avLst>
              <a:gd name="adj" fmla="val 27273"/>
            </a:avLst>
          </a:prstGeom>
          <a:solidFill>
            <a:srgbClr val="EC1D35"/>
          </a:solidFill>
          <a:ln w="12700">
            <a:solidFill>
              <a:srgbClr val="EC1D35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301752"/>
            <a:ext cx="17510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ДОКУМЕНТЫ ФСП</a:t>
            </a:r>
            <a:endParaRPr lang="en-US" sz="1100" dirty="0"/>
          </a:p>
        </p:txBody>
      </p:sp>
      <p:pic>
        <p:nvPicPr>
          <p:cNvPr id="5" name="Image 1" descr="/home/user/workspace/w/a10/docs/presentation/assets/logo_fs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400800"/>
            <a:ext cx="2167128" cy="2743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743200" y="6400800"/>
            <a:ext cx="18288" cy="274320"/>
          </a:xfrm>
          <a:prstGeom prst="rect">
            <a:avLst/>
          </a:prstGeom>
          <a:solidFill>
            <a:srgbClr val="9EA3D9"/>
          </a:solidFill>
          <a:ln w="12700">
            <a:solidFill>
              <a:srgbClr val="9EA3D9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880360" y="6355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Драфт</a:t>
            </a:r>
            <a:r>
              <a:rPr lang="en-US" sz="110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fsp-draft.ru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1247120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19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11480" y="868680"/>
            <a:ext cx="11338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Достижение — со ссылкой</a:t>
            </a:r>
            <a:endParaRPr lang="en-US" sz="3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 официальный протокол</a:t>
            </a:r>
            <a:endParaRPr lang="en-US" sz="3000" dirty="0"/>
          </a:p>
        </p:txBody>
      </p:sp>
      <p:sp>
        <p:nvSpPr>
          <p:cNvPr id="10" name="Text 6"/>
          <p:cNvSpPr/>
          <p:nvPr/>
        </p:nvSpPr>
        <p:spPr>
          <a:xfrm>
            <a:off x="411480" y="1920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411480" y="248716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официальных протоколов ФСП России в индексе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2880360" y="1920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2 908</a:t>
            </a:r>
            <a:endParaRPr lang="en-US" sz="3000" dirty="0"/>
          </a:p>
        </p:txBody>
      </p:sp>
      <p:sp>
        <p:nvSpPr>
          <p:cNvPr id="13" name="Text 9"/>
          <p:cNvSpPr/>
          <p:nvPr/>
        </p:nvSpPr>
        <p:spPr>
          <a:xfrm>
            <a:off x="2880360" y="248716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результатов спортсменов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349240" y="1920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69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5349240" y="248716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субъектов РФ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11480" y="3337560"/>
            <a:ext cx="7223760" cy="2331720"/>
          </a:xfrm>
          <a:prstGeom prst="roundRect">
            <a:avLst>
              <a:gd name="adj" fmla="val 549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40080" y="344728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Статус достижения в карточке кандидата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58368" y="3995928"/>
            <a:ext cx="164592" cy="164592"/>
          </a:xfrm>
          <a:prstGeom prst="ellipse">
            <a:avLst/>
          </a:prstGeom>
          <a:solidFill>
            <a:srgbClr val="4BE3A3"/>
          </a:solidFill>
          <a:ln w="12700">
            <a:solidFill>
              <a:srgbClr val="4BE3A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914400" y="38862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Подтверждено ФСП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3200400" y="3886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вход через ФСП ID или решение федерации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5943600" y="38862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4BE3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полный вес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658368" y="4425696"/>
            <a:ext cx="164592" cy="164592"/>
          </a:xfrm>
          <a:prstGeom prst="ellipse">
            <a:avLst/>
          </a:prstGeom>
          <a:solidFill>
            <a:srgbClr val="A59DFF"/>
          </a:solidFill>
          <a:ln w="12700">
            <a:solidFill>
              <a:srgbClr val="A59DF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914400" y="43159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Ждёт подтверждения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3200400" y="431596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кандидат нашёл свою строку в протоколе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5943600" y="431596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A59D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половина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658368" y="4855464"/>
            <a:ext cx="164592" cy="164592"/>
          </a:xfrm>
          <a:prstGeom prst="ellipse">
            <a:avLst/>
          </a:prstGeom>
          <a:solidFill>
            <a:srgbClr val="9EA3D9"/>
          </a:solidFill>
          <a:ln w="12700">
            <a:solidFill>
              <a:srgbClr val="9EA3D9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914400" y="474573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Заявлено</a:t>
            </a:r>
            <a:endParaRPr lang="en-US" sz="1150" dirty="0"/>
          </a:p>
        </p:txBody>
      </p:sp>
      <p:sp>
        <p:nvSpPr>
          <p:cNvPr id="28" name="Text 24"/>
          <p:cNvSpPr/>
          <p:nvPr/>
        </p:nvSpPr>
        <p:spPr>
          <a:xfrm>
            <a:off x="3200400" y="474573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без документа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5943600" y="474573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ноль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658368" y="5285232"/>
            <a:ext cx="164592" cy="164592"/>
          </a:xfrm>
          <a:prstGeom prst="ellipse">
            <a:avLst/>
          </a:prstGeom>
          <a:solidFill>
            <a:srgbClr val="C9CCF2"/>
          </a:solidFill>
          <a:ln w="12700">
            <a:solidFill>
              <a:srgbClr val="C9CCF2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914400" y="517550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Истории ФСП нет</a:t>
            </a:r>
            <a:endParaRPr lang="en-US" sz="1150" dirty="0"/>
          </a:p>
        </p:txBody>
      </p:sp>
      <p:sp>
        <p:nvSpPr>
          <p:cNvPr id="32" name="Text 28"/>
          <p:cNvSpPr/>
          <p:nvPr/>
        </p:nvSpPr>
        <p:spPr>
          <a:xfrm>
            <a:off x="3200400" y="517550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ничего не указано</a:t>
            </a:r>
            <a:endParaRPr lang="en-US" sz="1050" dirty="0"/>
          </a:p>
        </p:txBody>
      </p:sp>
      <p:sp>
        <p:nvSpPr>
          <p:cNvPr id="33" name="Text 29"/>
          <p:cNvSpPr/>
          <p:nvPr/>
        </p:nvSpPr>
        <p:spPr>
          <a:xfrm>
            <a:off x="5943600" y="517550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ноль, без штрафа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7863840" y="1920240"/>
            <a:ext cx="3886200" cy="1828800"/>
          </a:xfrm>
          <a:prstGeom prst="roundRect">
            <a:avLst>
              <a:gd name="adj" fmla="val 7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8065008" y="2103120"/>
            <a:ext cx="3483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Разряд по ЕВСК</a:t>
            </a:r>
            <a:endParaRPr lang="en-US" sz="1350" dirty="0"/>
          </a:p>
        </p:txBody>
      </p:sp>
      <p:sp>
        <p:nvSpPr>
          <p:cNvPr id="36" name="Text 32"/>
          <p:cNvSpPr/>
          <p:nvPr/>
        </p:nvSpPr>
        <p:spPr>
          <a:xfrm>
            <a:off x="8065008" y="2560320"/>
            <a:ext cx="34838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Выводится из места, числа участвующих субъектов РФ и состава судейской коллегии — и показывается с основанием.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7863840" y="3886200"/>
            <a:ext cx="3886200" cy="1783080"/>
          </a:xfrm>
          <a:prstGeom prst="roundRect">
            <a:avLst>
              <a:gd name="adj" fmla="val 7179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8065008" y="4069080"/>
            <a:ext cx="3483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Персональные данные</a:t>
            </a:r>
            <a:endParaRPr lang="en-US" sz="1350" dirty="0"/>
          </a:p>
        </p:txBody>
      </p:sp>
      <p:sp>
        <p:nvSpPr>
          <p:cNvPr id="39" name="Text 35"/>
          <p:cNvSpPr/>
          <p:nvPr/>
        </p:nvSpPr>
        <p:spPr>
          <a:xfrm>
            <a:off x="8065008" y="4526280"/>
            <a:ext cx="34838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Из протокола — только ФИО, год рождения, регион, место, разряд. Индекс вне репозитория, ключи поиска — HMAC, открытого каталога спортсменов нет.</a:t>
            </a:r>
            <a:endParaRPr lang="en-US" sz="1100" dirty="0"/>
          </a:p>
        </p:txBody>
      </p:sp>
      <p:sp>
        <p:nvSpPr>
          <p:cNvPr id="40" name="Text 36"/>
          <p:cNvSpPr/>
          <p:nvPr/>
        </p:nvSpPr>
        <p:spPr>
          <a:xfrm>
            <a:off x="411480" y="5779008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EA3D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Официальные протоколы ФСП России 2025–2026 с сайта федерации; судьи, тренеры и справки исключены; 21.10.2026.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space/w/a10/docs/presentation/assets/logos_organiz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329184"/>
            <a:ext cx="4882896" cy="3383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01752"/>
            <a:ext cx="1435608" cy="402336"/>
          </a:xfrm>
          <a:prstGeom prst="roundRect">
            <a:avLst>
              <a:gd name="adj" fmla="val 27273"/>
            </a:avLst>
          </a:prstGeom>
          <a:solidFill>
            <a:srgbClr val="EC1D35"/>
          </a:solidFill>
          <a:ln w="12700">
            <a:solidFill>
              <a:srgbClr val="EC1D35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301752"/>
            <a:ext cx="1435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ИНТЕГРАЦИИ</a:t>
            </a:r>
            <a:endParaRPr lang="en-US" sz="1100" dirty="0"/>
          </a:p>
        </p:txBody>
      </p:sp>
      <p:pic>
        <p:nvPicPr>
          <p:cNvPr id="5" name="Image 1" descr="/home/user/workspace/w/a10/docs/presentation/assets/logo_fs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400800"/>
            <a:ext cx="2167128" cy="2743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743200" y="6400800"/>
            <a:ext cx="18288" cy="274320"/>
          </a:xfrm>
          <a:prstGeom prst="rect">
            <a:avLst/>
          </a:prstGeom>
          <a:solidFill>
            <a:srgbClr val="9EA3D9"/>
          </a:solidFill>
          <a:ln w="12700">
            <a:solidFill>
              <a:srgbClr val="9EA3D9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880360" y="6355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Драфт</a:t>
            </a:r>
            <a:r>
              <a:rPr lang="en-US" sz="110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fsp-draft.ru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1247120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11480" y="868680"/>
            <a:ext cx="11338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Встраивается в то, чем уже</a:t>
            </a:r>
            <a:endParaRPr lang="en-US" sz="3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пользуются федерация и компании</a:t>
            </a:r>
            <a:endParaRPr lang="en-US" sz="3000" dirty="0"/>
          </a:p>
        </p:txBody>
      </p:sp>
      <p:sp>
        <p:nvSpPr>
          <p:cNvPr id="10" name="Shape 6"/>
          <p:cNvSpPr/>
          <p:nvPr/>
        </p:nvSpPr>
        <p:spPr>
          <a:xfrm>
            <a:off x="411480" y="2103120"/>
            <a:ext cx="2697480" cy="1664208"/>
          </a:xfrm>
          <a:prstGeom prst="roundRect">
            <a:avLst>
              <a:gd name="adj" fmla="val 769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12648" y="2286000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ФСП ID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12648" y="2743200"/>
            <a:ext cx="229514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вход и связь профиля по OIDC; демо-стенд на Keycloak, переключение на боевой — настройкой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273552" y="2103120"/>
            <a:ext cx="2697480" cy="1664208"/>
          </a:xfrm>
          <a:prstGeom prst="roundRect">
            <a:avLst>
              <a:gd name="adj" fmla="val 769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474720" y="2286000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Реестр ФСП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474720" y="2743200"/>
            <a:ext cx="229514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контракт API реестра и рабочий адаптер; до появления API — официальные протоколы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135624" y="2103120"/>
            <a:ext cx="2697480" cy="1664208"/>
          </a:xfrm>
          <a:prstGeom prst="roundRect">
            <a:avLst>
              <a:gd name="adj" fmla="val 769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336792" y="2286000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hh.ru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6336792" y="2743200"/>
            <a:ext cx="229514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данные рынка: спрос по навыкам и зарплатные вилки по категориям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8997696" y="2103120"/>
            <a:ext cx="2697480" cy="1664208"/>
          </a:xfrm>
          <a:prstGeom prst="roundRect">
            <a:avLst>
              <a:gd name="adj" fmla="val 769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198864" y="2286000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ATS работодателя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9198864" y="2743200"/>
            <a:ext cx="229514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передача кандидата и этапы найма в обе стороны, универсальный вебхук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411480" y="3931920"/>
            <a:ext cx="2697480" cy="1664208"/>
          </a:xfrm>
          <a:prstGeom prst="roundRect">
            <a:avLst>
              <a:gd name="adj" fmla="val 769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12648" y="4114800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ЕГРЮЛ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612648" y="4572000"/>
            <a:ext cx="229514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проверка компании и индекс доверия — защита от фиктивных вакансий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3273552" y="3931920"/>
            <a:ext cx="2697480" cy="1664208"/>
          </a:xfrm>
          <a:prstGeom prst="roundRect">
            <a:avLst>
              <a:gd name="adj" fmla="val 769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474720" y="4114800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Файлы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3474720" y="4572000"/>
            <a:ext cx="229514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профиль из PDF-резюме, потребность из файла вакансии, стандартизированный PDF-профиль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6135624" y="3931920"/>
            <a:ext cx="2697480" cy="1664208"/>
          </a:xfrm>
          <a:prstGeom prst="roundRect">
            <a:avLst>
              <a:gd name="adj" fmla="val 769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336792" y="4114800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Уведомления</a:t>
            </a:r>
            <a:endParaRPr lang="en-US" sz="1400" dirty="0"/>
          </a:p>
        </p:txBody>
      </p:sp>
      <p:sp>
        <p:nvSpPr>
          <p:cNvPr id="30" name="Text 26"/>
          <p:cNvSpPr/>
          <p:nvPr/>
        </p:nvSpPr>
        <p:spPr>
          <a:xfrm>
            <a:off x="6336792" y="4572000"/>
            <a:ext cx="229514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письма, уведомления в кабинете и в браузере, подписка на новых кандидатов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8997696" y="3931920"/>
            <a:ext cx="2697480" cy="1664208"/>
          </a:xfrm>
          <a:prstGeom prst="roundRect">
            <a:avLst>
              <a:gd name="adj" fmla="val 769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9198864" y="4114800"/>
            <a:ext cx="2295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Мобильное</a:t>
            </a:r>
            <a:endParaRPr lang="en-US" sz="1400" dirty="0"/>
          </a:p>
        </p:txBody>
      </p:sp>
      <p:sp>
        <p:nvSpPr>
          <p:cNvPr id="33" name="Text 29"/>
          <p:cNvSpPr/>
          <p:nvPr/>
        </p:nvSpPr>
        <p:spPr>
          <a:xfrm>
            <a:off x="9198864" y="4572000"/>
            <a:ext cx="229514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адаптивный сайт, установка как приложение, Android-приложение</a:t>
            </a:r>
            <a:endParaRPr lang="en-US" sz="1050" dirty="0"/>
          </a:p>
        </p:txBody>
      </p:sp>
      <p:sp>
        <p:nvSpPr>
          <p:cNvPr id="34" name="Text 30"/>
          <p:cNvSpPr/>
          <p:nvPr/>
        </p:nvSpPr>
        <p:spPr>
          <a:xfrm>
            <a:off x="411480" y="5779008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EA3D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Открытое API: 438 операций в спецификации OpenAPI — fsp-draft.ru/api/docs.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space/w/a10/docs/presentation/assets/logos_organiz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329184"/>
            <a:ext cx="4882896" cy="3383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01752"/>
            <a:ext cx="1751076" cy="402336"/>
          </a:xfrm>
          <a:prstGeom prst="roundRect">
            <a:avLst>
              <a:gd name="adj" fmla="val 27273"/>
            </a:avLst>
          </a:prstGeom>
          <a:solidFill>
            <a:srgbClr val="EC1D35"/>
          </a:solidFill>
          <a:ln w="12700">
            <a:solidFill>
              <a:srgbClr val="EC1D35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301752"/>
            <a:ext cx="17510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ЧЕСТНЫЕ ЦИФРЫ</a:t>
            </a:r>
            <a:endParaRPr lang="en-US" sz="1100" dirty="0"/>
          </a:p>
        </p:txBody>
      </p:sp>
      <p:pic>
        <p:nvPicPr>
          <p:cNvPr id="5" name="Image 1" descr="/home/user/workspace/w/a10/docs/presentation/assets/logo_fs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400800"/>
            <a:ext cx="2167128" cy="2743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743200" y="6400800"/>
            <a:ext cx="18288" cy="274320"/>
          </a:xfrm>
          <a:prstGeom prst="rect">
            <a:avLst/>
          </a:prstGeom>
          <a:solidFill>
            <a:srgbClr val="9EA3D9"/>
          </a:solidFill>
          <a:ln w="12700">
            <a:solidFill>
              <a:srgbClr val="9EA3D9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880360" y="6355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Драфт</a:t>
            </a:r>
            <a:r>
              <a:rPr lang="en-US" sz="110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fsp-draft.ru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1247120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21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11480" y="868680"/>
            <a:ext cx="11338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Одни и те же метрики — в стандартных</a:t>
            </a:r>
            <a:endParaRPr lang="en-US" sz="26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условиях и в проверке на прочность</a:t>
            </a:r>
            <a:endParaRPr lang="en-US" sz="2600" dirty="0"/>
          </a:p>
        </p:txBody>
      </p:sp>
      <p:sp>
        <p:nvSpPr>
          <p:cNvPr id="10" name="Shape 6"/>
          <p:cNvSpPr/>
          <p:nvPr/>
        </p:nvSpPr>
        <p:spPr>
          <a:xfrm>
            <a:off x="411480" y="1874520"/>
            <a:ext cx="8092440" cy="566928"/>
          </a:xfrm>
          <a:prstGeom prst="roundRect">
            <a:avLst>
              <a:gd name="adj" fmla="val 22581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94360" y="192024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Метрика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4206240" y="1901952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Стандартные условия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(как в аналогичных решениях)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6172200" y="1901952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8A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Проверка на прочность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8A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(наши жёсткие условия)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11480" y="2514600"/>
            <a:ext cx="8092440" cy="283464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94360" y="2514600"/>
            <a:ext cx="3520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Точность уверенного ответа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206240" y="2514600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88,1 %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6172200" y="2514600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89,6 %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594360" y="2798064"/>
            <a:ext cx="3520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Точный грейд — 6 ступеней, все кандидаты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4206240" y="2798064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77,6 %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6172200" y="2798064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75,4 %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411480" y="3081528"/>
            <a:ext cx="8092440" cy="283464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94360" y="3081528"/>
            <a:ext cx="3520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Грейд с точностью ±1 ступень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4206240" y="3081528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99,9 %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6172200" y="3081528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99,9 %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594360" y="3364992"/>
            <a:ext cx="3520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Повтор на других заданиях (взвешенная каппа)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4206240" y="3364992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0,85</a:t>
            </a:r>
            <a:endParaRPr lang="en-US" sz="1250" dirty="0"/>
          </a:p>
        </p:txBody>
      </p:sp>
      <p:sp>
        <p:nvSpPr>
          <p:cNvPr id="27" name="Text 23"/>
          <p:cNvSpPr/>
          <p:nvPr/>
        </p:nvSpPr>
        <p:spPr>
          <a:xfrm>
            <a:off x="6172200" y="3364992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0,91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411480" y="3648456"/>
            <a:ext cx="8092440" cy="283464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94360" y="3648456"/>
            <a:ext cx="3520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Ложное подтверждение грейда (от всех)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4206240" y="3648456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2,1 %</a:t>
            </a:r>
            <a:endParaRPr lang="en-US" sz="1250" dirty="0"/>
          </a:p>
        </p:txBody>
      </p:sp>
      <p:sp>
        <p:nvSpPr>
          <p:cNvPr id="31" name="Text 27"/>
          <p:cNvSpPr/>
          <p:nvPr/>
        </p:nvSpPr>
        <p:spPr>
          <a:xfrm>
            <a:off x="6172200" y="3648456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2,7 %</a:t>
            </a:r>
            <a:endParaRPr lang="en-US" sz="1250" dirty="0"/>
          </a:p>
        </p:txBody>
      </p:sp>
      <p:sp>
        <p:nvSpPr>
          <p:cNvPr id="32" name="Text 28"/>
          <p:cNvSpPr/>
          <p:nvPr/>
        </p:nvSpPr>
        <p:spPr>
          <a:xfrm>
            <a:off x="594360" y="3931920"/>
            <a:ext cx="3520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Завышенная заявка прошла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4206240" y="3931920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8,8 %</a:t>
            </a:r>
            <a:endParaRPr lang="en-US" sz="1250" dirty="0"/>
          </a:p>
        </p:txBody>
      </p:sp>
      <p:sp>
        <p:nvSpPr>
          <p:cNvPr id="34" name="Text 30"/>
          <p:cNvSpPr/>
          <p:nvPr/>
        </p:nvSpPr>
        <p:spPr>
          <a:xfrm>
            <a:off x="6172200" y="3931920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7,1 %</a:t>
            </a:r>
            <a:endParaRPr lang="en-US" sz="1250" dirty="0"/>
          </a:p>
        </p:txBody>
      </p:sp>
      <p:sp>
        <p:nvSpPr>
          <p:cNvPr id="35" name="Shape 31"/>
          <p:cNvSpPr/>
          <p:nvPr/>
        </p:nvSpPr>
        <p:spPr>
          <a:xfrm>
            <a:off x="411480" y="4215384"/>
            <a:ext cx="8092440" cy="283464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594360" y="4215384"/>
            <a:ext cx="3520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Подбор: точность первой пятёрки (P@5)</a:t>
            </a:r>
            <a:endParaRPr lang="en-US" sz="950" dirty="0"/>
          </a:p>
        </p:txBody>
      </p:sp>
      <p:sp>
        <p:nvSpPr>
          <p:cNvPr id="37" name="Text 33"/>
          <p:cNvSpPr/>
          <p:nvPr/>
        </p:nvSpPr>
        <p:spPr>
          <a:xfrm>
            <a:off x="4206240" y="4215384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77,1 %</a:t>
            </a:r>
            <a:endParaRPr lang="en-US" sz="1250" dirty="0"/>
          </a:p>
        </p:txBody>
      </p:sp>
      <p:sp>
        <p:nvSpPr>
          <p:cNvPr id="38" name="Text 34"/>
          <p:cNvSpPr/>
          <p:nvPr/>
        </p:nvSpPr>
        <p:spPr>
          <a:xfrm>
            <a:off x="6172200" y="4215384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75,9 %</a:t>
            </a:r>
            <a:endParaRPr lang="en-US" sz="1250" dirty="0"/>
          </a:p>
        </p:txBody>
      </p:sp>
      <p:sp>
        <p:nvSpPr>
          <p:cNvPr id="39" name="Text 35"/>
          <p:cNvSpPr/>
          <p:nvPr/>
        </p:nvSpPr>
        <p:spPr>
          <a:xfrm>
            <a:off x="594360" y="4498848"/>
            <a:ext cx="3520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Подбор: nDCG@10</a:t>
            </a:r>
            <a:endParaRPr lang="en-US" sz="950" dirty="0"/>
          </a:p>
        </p:txBody>
      </p:sp>
      <p:sp>
        <p:nvSpPr>
          <p:cNvPr id="40" name="Text 36"/>
          <p:cNvSpPr/>
          <p:nvPr/>
        </p:nvSpPr>
        <p:spPr>
          <a:xfrm>
            <a:off x="4206240" y="4498848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0,66</a:t>
            </a:r>
            <a:endParaRPr lang="en-US" sz="1250" dirty="0"/>
          </a:p>
        </p:txBody>
      </p:sp>
      <p:sp>
        <p:nvSpPr>
          <p:cNvPr id="41" name="Text 37"/>
          <p:cNvSpPr/>
          <p:nvPr/>
        </p:nvSpPr>
        <p:spPr>
          <a:xfrm>
            <a:off x="6172200" y="4498848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0,57</a:t>
            </a:r>
            <a:endParaRPr lang="en-US" sz="1250" dirty="0"/>
          </a:p>
        </p:txBody>
      </p:sp>
      <p:sp>
        <p:nvSpPr>
          <p:cNvPr id="42" name="Shape 38"/>
          <p:cNvSpPr/>
          <p:nvPr/>
        </p:nvSpPr>
        <p:spPr>
          <a:xfrm>
            <a:off x="411480" y="4782312"/>
            <a:ext cx="8092440" cy="283464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594360" y="4782312"/>
            <a:ext cx="3520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Подбор: MRR</a:t>
            </a:r>
            <a:endParaRPr lang="en-US" sz="950" dirty="0"/>
          </a:p>
        </p:txBody>
      </p:sp>
      <p:sp>
        <p:nvSpPr>
          <p:cNvPr id="44" name="Text 40"/>
          <p:cNvSpPr/>
          <p:nvPr/>
        </p:nvSpPr>
        <p:spPr>
          <a:xfrm>
            <a:off x="4206240" y="4782312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0,86</a:t>
            </a:r>
            <a:endParaRPr lang="en-US" sz="1250" dirty="0"/>
          </a:p>
        </p:txBody>
      </p:sp>
      <p:sp>
        <p:nvSpPr>
          <p:cNvPr id="45" name="Text 41"/>
          <p:cNvSpPr/>
          <p:nvPr/>
        </p:nvSpPr>
        <p:spPr>
          <a:xfrm>
            <a:off x="6172200" y="4782312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0,88</a:t>
            </a:r>
            <a:endParaRPr lang="en-US" sz="1250" dirty="0"/>
          </a:p>
        </p:txBody>
      </p:sp>
      <p:sp>
        <p:nvSpPr>
          <p:cNvPr id="46" name="Text 42"/>
          <p:cNvSpPr/>
          <p:nvPr/>
        </p:nvSpPr>
        <p:spPr>
          <a:xfrm>
            <a:off x="594360" y="5065776"/>
            <a:ext cx="3520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Подбор: хотя бы один подходящий в первой пятёрке</a:t>
            </a:r>
            <a:endParaRPr lang="en-US" sz="950" dirty="0"/>
          </a:p>
        </p:txBody>
      </p:sp>
      <p:sp>
        <p:nvSpPr>
          <p:cNvPr id="47" name="Text 43"/>
          <p:cNvSpPr/>
          <p:nvPr/>
        </p:nvSpPr>
        <p:spPr>
          <a:xfrm>
            <a:off x="4206240" y="5065776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98,1 %</a:t>
            </a:r>
            <a:endParaRPr lang="en-US" sz="1250" dirty="0"/>
          </a:p>
        </p:txBody>
      </p:sp>
      <p:sp>
        <p:nvSpPr>
          <p:cNvPr id="48" name="Text 44"/>
          <p:cNvSpPr/>
          <p:nvPr/>
        </p:nvSpPr>
        <p:spPr>
          <a:xfrm>
            <a:off x="6172200" y="5065776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98,5 %</a:t>
            </a:r>
            <a:endParaRPr lang="en-US" sz="1250" dirty="0"/>
          </a:p>
        </p:txBody>
      </p:sp>
      <p:sp>
        <p:nvSpPr>
          <p:cNvPr id="49" name="Shape 45"/>
          <p:cNvSpPr/>
          <p:nvPr/>
        </p:nvSpPr>
        <p:spPr>
          <a:xfrm>
            <a:off x="411480" y="5349240"/>
            <a:ext cx="8092440" cy="283464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594360" y="5349240"/>
            <a:ext cx="3520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Подбор: переоценённых в первой десятке</a:t>
            </a:r>
            <a:endParaRPr lang="en-US" sz="950" dirty="0"/>
          </a:p>
        </p:txBody>
      </p:sp>
      <p:sp>
        <p:nvSpPr>
          <p:cNvPr id="51" name="Text 47"/>
          <p:cNvSpPr/>
          <p:nvPr/>
        </p:nvSpPr>
        <p:spPr>
          <a:xfrm>
            <a:off x="4206240" y="5349240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2,8 %</a:t>
            </a:r>
            <a:endParaRPr lang="en-US" sz="1250" dirty="0"/>
          </a:p>
        </p:txBody>
      </p:sp>
      <p:sp>
        <p:nvSpPr>
          <p:cNvPr id="52" name="Text 48"/>
          <p:cNvSpPr/>
          <p:nvPr/>
        </p:nvSpPr>
        <p:spPr>
          <a:xfrm>
            <a:off x="6172200" y="5349240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4,0 %</a:t>
            </a:r>
            <a:endParaRPr lang="en-US" sz="1250" dirty="0"/>
          </a:p>
        </p:txBody>
      </p:sp>
      <p:sp>
        <p:nvSpPr>
          <p:cNvPr id="53" name="Shape 49"/>
          <p:cNvSpPr/>
          <p:nvPr/>
        </p:nvSpPr>
        <p:spPr>
          <a:xfrm>
            <a:off x="8686800" y="1874520"/>
            <a:ext cx="3063240" cy="3758184"/>
          </a:xfrm>
          <a:prstGeom prst="roundRect">
            <a:avLst>
              <a:gd name="adj" fmla="val 4179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8887968" y="19842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BE3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Реальные данные</a:t>
            </a:r>
            <a:endParaRPr lang="en-US" sz="1300" dirty="0"/>
          </a:p>
        </p:txBody>
      </p:sp>
      <p:sp>
        <p:nvSpPr>
          <p:cNvPr id="55" name="Text 51"/>
          <p:cNvSpPr/>
          <p:nvPr/>
        </p:nvSpPr>
        <p:spPr>
          <a:xfrm>
            <a:off x="8887968" y="23774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85,1 %</a:t>
            </a:r>
            <a:endParaRPr lang="en-US" sz="1800" dirty="0"/>
          </a:p>
        </p:txBody>
      </p:sp>
      <p:sp>
        <p:nvSpPr>
          <p:cNvPr id="56" name="Text 52"/>
          <p:cNvSpPr/>
          <p:nvPr/>
        </p:nvSpPr>
        <p:spPr>
          <a:xfrm>
            <a:off x="8887968" y="277063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Вакансии hh.ru: направление определено верно</a:t>
            </a:r>
            <a:endParaRPr lang="en-US" sz="950" dirty="0"/>
          </a:p>
        </p:txBody>
      </p:sp>
      <p:sp>
        <p:nvSpPr>
          <p:cNvPr id="57" name="Text 53"/>
          <p:cNvSpPr/>
          <p:nvPr/>
        </p:nvSpPr>
        <p:spPr>
          <a:xfrm>
            <a:off x="8887968" y="316382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0,58</a:t>
            </a:r>
            <a:endParaRPr lang="en-US" sz="1800" dirty="0"/>
          </a:p>
        </p:txBody>
      </p:sp>
      <p:sp>
        <p:nvSpPr>
          <p:cNvPr id="58" name="Text 54"/>
          <p:cNvSpPr/>
          <p:nvPr/>
        </p:nvSpPr>
        <p:spPr>
          <a:xfrm>
            <a:off x="8887968" y="355701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Открытый набор вакансий — nDCG@10</a:t>
            </a:r>
            <a:endParaRPr lang="en-US" sz="950" dirty="0"/>
          </a:p>
        </p:txBody>
      </p:sp>
      <p:sp>
        <p:nvSpPr>
          <p:cNvPr id="59" name="Text 55"/>
          <p:cNvSpPr/>
          <p:nvPr/>
        </p:nvSpPr>
        <p:spPr>
          <a:xfrm>
            <a:off x="8887968" y="395020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</a:t>
            </a:r>
            <a:endParaRPr lang="en-US" sz="1800" dirty="0"/>
          </a:p>
        </p:txBody>
      </p:sp>
      <p:sp>
        <p:nvSpPr>
          <p:cNvPr id="60" name="Text 56"/>
          <p:cNvSpPr/>
          <p:nvPr/>
        </p:nvSpPr>
        <p:spPr>
          <a:xfrm>
            <a:off x="8887968" y="43434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Официальных протоколов ФСП в индексе</a:t>
            </a:r>
            <a:endParaRPr lang="en-US" sz="950" dirty="0"/>
          </a:p>
        </p:txBody>
      </p:sp>
      <p:sp>
        <p:nvSpPr>
          <p:cNvPr id="61" name="Text 57"/>
          <p:cNvSpPr/>
          <p:nvPr/>
        </p:nvSpPr>
        <p:spPr>
          <a:xfrm>
            <a:off x="8887968" y="473659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2 908</a:t>
            </a:r>
            <a:endParaRPr lang="en-US" sz="1800" dirty="0"/>
          </a:p>
        </p:txBody>
      </p:sp>
      <p:sp>
        <p:nvSpPr>
          <p:cNvPr id="62" name="Text 58"/>
          <p:cNvSpPr/>
          <p:nvPr/>
        </p:nvSpPr>
        <p:spPr>
          <a:xfrm>
            <a:off x="8887968" y="512978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Результатов спортсменов в индексе</a:t>
            </a:r>
            <a:endParaRPr lang="en-US" sz="950" dirty="0"/>
          </a:p>
        </p:txBody>
      </p:sp>
      <p:sp>
        <p:nvSpPr>
          <p:cNvPr id="63" name="Text 59"/>
          <p:cNvSpPr/>
          <p:nvPr/>
        </p:nvSpPr>
        <p:spPr>
          <a:xfrm>
            <a:off x="411480" y="5687568"/>
            <a:ext cx="11338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9EA3D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Стандартные условия (как в аналогичных решениях): a = 1,5 в движке, истинные a × U(0,825; 1,175) и b + N(0; 0,3), угадывание 0,25 в вопросах с выбором и 0,02 в остальных, θ ~ N(0,5; 1,0), заявки: 65 % точные, 25 % завышены, 10 % занижены; модельные кандидаты, не люди; N = 3 000, зёрна 5501…5510; время — в среднем 43 мин (p90 69); банк ab16d27 (913ad19f6a259aff), 2026-10-21.  Жёсткие условия: угадывание в вопросах с выбором, завышение и занижение заявок, кандидаты у порогов, консервативные параметры банка (a = 1,0 / 1,3); модельные кандидаты, не люди; N = 3 000, зёрна 4401…4410; время — в среднем 45 мин (p90 81); банк ab16d27 (913ad19f6a259aff), 2026-10-21. Модельные кандидаты, не люди; какие условия идут заголовком, решено до прогонов. Все условия, N и команды пересчёта — docs/NUMBERS.json, приложение Б документации, /validation.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space/w/a10/docs/presentation/assets/logos_organiz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329184"/>
            <a:ext cx="4882896" cy="3383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01752"/>
            <a:ext cx="1540764" cy="402336"/>
          </a:xfrm>
          <a:prstGeom prst="roundRect">
            <a:avLst>
              <a:gd name="adj" fmla="val 27273"/>
            </a:avLst>
          </a:prstGeom>
          <a:solidFill>
            <a:srgbClr val="EC1D35"/>
          </a:solidFill>
          <a:ln w="12700">
            <a:solidFill>
              <a:srgbClr val="EC1D35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301752"/>
            <a:ext cx="15407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АРХИТЕКТУРА</a:t>
            </a:r>
            <a:endParaRPr lang="en-US" sz="1100" dirty="0"/>
          </a:p>
        </p:txBody>
      </p:sp>
      <p:pic>
        <p:nvPicPr>
          <p:cNvPr id="5" name="Image 1" descr="/home/user/workspace/w/a10/docs/presentation/assets/logo_fs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400800"/>
            <a:ext cx="2167128" cy="2743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743200" y="6400800"/>
            <a:ext cx="18288" cy="274320"/>
          </a:xfrm>
          <a:prstGeom prst="rect">
            <a:avLst/>
          </a:prstGeom>
          <a:solidFill>
            <a:srgbClr val="9EA3D9"/>
          </a:solidFill>
          <a:ln w="12700">
            <a:solidFill>
              <a:srgbClr val="9EA3D9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880360" y="6355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Драфт</a:t>
            </a:r>
            <a:r>
              <a:rPr lang="en-US" sz="110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fsp-draft.ru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1247120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22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11480" y="868680"/>
            <a:ext cx="11338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Модульный монолит: просто развернуть,</a:t>
            </a:r>
            <a:endParaRPr lang="en-US" sz="3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легко проверить</a:t>
            </a:r>
            <a:endParaRPr lang="en-US" sz="3000" dirty="0"/>
          </a:p>
        </p:txBody>
      </p:sp>
      <p:sp>
        <p:nvSpPr>
          <p:cNvPr id="10" name="Shape 6"/>
          <p:cNvSpPr/>
          <p:nvPr/>
        </p:nvSpPr>
        <p:spPr>
          <a:xfrm>
            <a:off x="411480" y="1965960"/>
            <a:ext cx="6949440" cy="374904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9525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2" descr="/home/user/workspace/w/a10/docs/submission/assets/diagram_2.png">    </p:cNvPr>
          <p:cNvPicPr>
            <a:picLocks noChangeAspect="1"/>
          </p:cNvPicPr>
          <p:nvPr/>
        </p:nvPicPr>
        <p:blipFill>
          <a:blip r:embed="rId4"/>
          <a:srcRect l="-10309" r="-10309" t="0" b="0"/>
          <a:stretch/>
        </p:blipFill>
        <p:spPr>
          <a:xfrm>
            <a:off x="548640" y="2075688"/>
            <a:ext cx="6675120" cy="3529584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7589520" y="1965960"/>
            <a:ext cx="4160520" cy="667512"/>
          </a:xfrm>
          <a:prstGeom prst="roundRect">
            <a:avLst>
              <a:gd name="adj" fmla="val 19178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7772400" y="2011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Интерфейс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7772400" y="227685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React, TypeScript, Vite, Tailwind; адаптив 360 / 768 / 1280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7589520" y="2724912"/>
            <a:ext cx="4160520" cy="667512"/>
          </a:xfrm>
          <a:prstGeom prst="roundRect">
            <a:avLst>
              <a:gd name="adj" fmla="val 19178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7772400" y="27706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API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7772400" y="303580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Python, FastAPI, SQLAlchemy, Alembic; модули со слоями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7589520" y="3483864"/>
            <a:ext cx="4160520" cy="667512"/>
          </a:xfrm>
          <a:prstGeom prst="roundRect">
            <a:avLst>
              <a:gd name="adj" fmla="val 19178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7772400" y="35295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Данные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7772400" y="37947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PostgreSQL 16; банк заданий — отдельный пакет без сети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7589520" y="4242816"/>
            <a:ext cx="4160520" cy="667512"/>
          </a:xfrm>
          <a:prstGeom prst="roundRect">
            <a:avLst>
              <a:gd name="adj" fmla="val 19178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7772400" y="42885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Запуск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7772400" y="45537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Docker Compose, одна команда make up; миграции и демо-данные сами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7589520" y="5001768"/>
            <a:ext cx="4160520" cy="667512"/>
          </a:xfrm>
          <a:prstGeom prst="roundRect">
            <a:avLst>
              <a:gd name="adj" fmla="val 19178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7772400" y="50474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Без внешних ключей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7772400" y="531266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нет модели — правила и ручная проверка; нет почты — коды в лог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space/w/a10/docs/presentation/assets/logos_organiz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329184"/>
            <a:ext cx="4882896" cy="3383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01752"/>
            <a:ext cx="1540764" cy="402336"/>
          </a:xfrm>
          <a:prstGeom prst="roundRect">
            <a:avLst>
              <a:gd name="adj" fmla="val 27273"/>
            </a:avLst>
          </a:prstGeom>
          <a:solidFill>
            <a:srgbClr val="EC1D35"/>
          </a:solidFill>
          <a:ln w="12700">
            <a:solidFill>
              <a:srgbClr val="EC1D35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301752"/>
            <a:ext cx="15407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МОНЕТИЗАЦИЯ</a:t>
            </a:r>
            <a:endParaRPr lang="en-US" sz="1100" dirty="0"/>
          </a:p>
        </p:txBody>
      </p:sp>
      <p:pic>
        <p:nvPicPr>
          <p:cNvPr id="5" name="Image 1" descr="/home/user/workspace/w/a10/docs/presentation/assets/logo_fs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400800"/>
            <a:ext cx="2167128" cy="2743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743200" y="6400800"/>
            <a:ext cx="18288" cy="274320"/>
          </a:xfrm>
          <a:prstGeom prst="rect">
            <a:avLst/>
          </a:prstGeom>
          <a:solidFill>
            <a:srgbClr val="9EA3D9"/>
          </a:solidFill>
          <a:ln w="12700">
            <a:solidFill>
              <a:srgbClr val="9EA3D9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880360" y="6355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Драфт</a:t>
            </a:r>
            <a:r>
              <a:rPr lang="en-US" sz="110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fsp-draft.ru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1247120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23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11480" y="868680"/>
            <a:ext cx="11338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Кандидатам — бесплатно.</a:t>
            </a:r>
            <a:endParaRPr lang="en-US" sz="3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Платят за подтверждённый найм</a:t>
            </a:r>
            <a:endParaRPr lang="en-US" sz="3000" dirty="0"/>
          </a:p>
        </p:txBody>
      </p:sp>
      <p:sp>
        <p:nvSpPr>
          <p:cNvPr id="10" name="Shape 6"/>
          <p:cNvSpPr/>
          <p:nvPr/>
        </p:nvSpPr>
        <p:spPr>
          <a:xfrm>
            <a:off x="411480" y="2103120"/>
            <a:ext cx="3639312" cy="2377440"/>
          </a:xfrm>
          <a:prstGeom prst="roundRect">
            <a:avLst>
              <a:gd name="adj" fmla="val 5385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40080" y="2240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Старт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40080" y="2651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E3A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бесплатно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40080" y="3063240"/>
            <a:ext cx="3246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ограниченное число приглашений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подборка с объяснением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проверка компании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224528" y="2103120"/>
            <a:ext cx="3639312" cy="2377440"/>
          </a:xfrm>
          <a:prstGeom prst="roundRect">
            <a:avLst>
              <a:gd name="adj" fmla="val 5385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453128" y="2240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Найм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453128" y="2651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9D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для регулярного подбора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453128" y="3063240"/>
            <a:ext cx="3246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интеграция с ATS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задания с автопроверкой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аналитика зарплатных вилок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037576" y="2103120"/>
            <a:ext cx="3639312" cy="2377440"/>
          </a:xfrm>
          <a:prstGeom prst="roundRect">
            <a:avLst>
              <a:gd name="adj" fmla="val 5385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266176" y="2240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Партнёр ФСП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8266176" y="2651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8A9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 спонсорском пакете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8266176" y="3063240"/>
            <a:ext cx="3246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метка «Партнёр ФСП» в карточке компании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отборочные задачи компании в соревнованиях</a:t>
            </a:r>
            <a:endParaRPr lang="en-US" sz="11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кубки работодателя под брендом компании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11480" y="4617720"/>
            <a:ext cx="11338560" cy="1143000"/>
          </a:xfrm>
          <a:prstGeom prst="roundRect">
            <a:avLst>
              <a:gd name="adj" fmla="val 112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12648" y="4800600"/>
            <a:ext cx="10936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Спонсорские пакеты федерации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612648" y="5257800"/>
            <a:ext cx="10936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Партнёр соревнования · партнёр направления · генеральный партнёр: соревнования ФСП становятся источником найма, а спортсмены получают карьерное преимущество от своих результатов. Оформление — заявкой на странице тарифов.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space/w/a10/docs/presentation/assets/logos_organiz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329184"/>
            <a:ext cx="4882896" cy="3383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" y="301752"/>
            <a:ext cx="1120140" cy="402336"/>
          </a:xfrm>
          <a:prstGeom prst="roundRect">
            <a:avLst>
              <a:gd name="adj" fmla="val 27273"/>
            </a:avLst>
          </a:prstGeom>
          <a:solidFill>
            <a:srgbClr val="EC1D35"/>
          </a:solidFill>
          <a:ln w="12700">
            <a:solidFill>
              <a:srgbClr val="EC1D35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301752"/>
            <a:ext cx="11201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КОМАНДА</a:t>
            </a:r>
            <a:endParaRPr lang="en-US" sz="1100" dirty="0"/>
          </a:p>
        </p:txBody>
      </p:sp>
      <p:pic>
        <p:nvPicPr>
          <p:cNvPr id="5" name="Image 1" descr="/home/user/workspace/w/a10/docs/presentation/assets/logo_fs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400800"/>
            <a:ext cx="2167128" cy="2743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743200" y="6400800"/>
            <a:ext cx="18288" cy="274320"/>
          </a:xfrm>
          <a:prstGeom prst="rect">
            <a:avLst/>
          </a:prstGeom>
          <a:solidFill>
            <a:srgbClr val="9EA3D9"/>
          </a:solidFill>
          <a:ln w="12700">
            <a:solidFill>
              <a:srgbClr val="9EA3D9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880360" y="6355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Драфт</a:t>
            </a:r>
            <a:r>
              <a:rPr lang="en-US" sz="110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fsp-draft.ru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1247120" y="63550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24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11480" y="868680"/>
            <a:ext cx="11338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Команда Neuropeople</a:t>
            </a:r>
            <a:endParaRPr lang="en-US" sz="3000" dirty="0"/>
          </a:p>
        </p:txBody>
      </p:sp>
      <p:sp>
        <p:nvSpPr>
          <p:cNvPr id="10" name="Text 6"/>
          <p:cNvSpPr/>
          <p:nvPr/>
        </p:nvSpPr>
        <p:spPr>
          <a:xfrm>
            <a:off x="411480" y="150876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Оператор платформы — команда Neuropeople. Решение подготовлено для специального трека ФСП «Лидеры цифровой трансформации 2026».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11480" y="2468880"/>
            <a:ext cx="7132320" cy="3200400"/>
          </a:xfrm>
          <a:prstGeom prst="roundRect">
            <a:avLst>
              <a:gd name="adj" fmla="val 4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40080" y="2633472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Рабочий сайт</a:t>
            </a:r>
            <a:endParaRPr lang="en-US" sz="1100" dirty="0"/>
          </a:p>
        </p:txBody>
      </p:sp>
      <p:sp>
        <p:nvSpPr>
          <p:cNvPr id="13" name="Text 9">
            <a:hlinkClick r:id="rId4" tooltip=""/>
          </p:cNvPr>
          <p:cNvSpPr/>
          <p:nvPr/>
        </p:nvSpPr>
        <p:spPr>
          <a:xfrm>
            <a:off x="640080" y="2880360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fsp-draft.ru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40080" y="3218688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Демо для жюри: вход в любую роль в один клик</a:t>
            </a:r>
            <a:endParaRPr lang="en-US" sz="1100" dirty="0"/>
          </a:p>
        </p:txBody>
      </p:sp>
      <p:sp>
        <p:nvSpPr>
          <p:cNvPr id="15" name="Text 11">
            <a:hlinkClick r:id="rId5" tooltip=""/>
          </p:cNvPr>
          <p:cNvSpPr/>
          <p:nvPr/>
        </p:nvSpPr>
        <p:spPr>
          <a:xfrm>
            <a:off x="640080" y="3465576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fsp-draft.ru/demo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40080" y="3803904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Методика и все цифры с условиями</a:t>
            </a:r>
            <a:endParaRPr lang="en-US" sz="1100" dirty="0"/>
          </a:p>
        </p:txBody>
      </p:sp>
      <p:sp>
        <p:nvSpPr>
          <p:cNvPr id="17" name="Text 13">
            <a:hlinkClick r:id="rId6" tooltip=""/>
          </p:cNvPr>
          <p:cNvSpPr/>
          <p:nvPr/>
        </p:nvSpPr>
        <p:spPr>
          <a:xfrm>
            <a:off x="640080" y="4050792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fsp-draft.ru/validation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640080" y="4389120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Описание API</a:t>
            </a:r>
            <a:endParaRPr lang="en-US" sz="1100" dirty="0"/>
          </a:p>
        </p:txBody>
      </p:sp>
      <p:sp>
        <p:nvSpPr>
          <p:cNvPr id="19" name="Text 15">
            <a:hlinkClick r:id="rId7" tooltip=""/>
          </p:cNvPr>
          <p:cNvSpPr/>
          <p:nvPr/>
        </p:nvSpPr>
        <p:spPr>
          <a:xfrm>
            <a:off x="640080" y="4636008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fsp-draft.ru/api/docs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640080" y="4974336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CF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Исходный код</a:t>
            </a:r>
            <a:endParaRPr lang="en-US" sz="1100" dirty="0"/>
          </a:p>
        </p:txBody>
      </p:sp>
      <p:sp>
        <p:nvSpPr>
          <p:cNvPr id="21" name="Text 17">
            <a:hlinkClick r:id="rId8" tooltip=""/>
          </p:cNvPr>
          <p:cNvSpPr/>
          <p:nvPr/>
        </p:nvSpPr>
        <p:spPr>
          <a:xfrm>
            <a:off x="640080" y="5221224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github.com/neuropeopleteam-afk/draft</a:t>
            </a:r>
            <a:endParaRPr lang="en-US" sz="1400" dirty="0"/>
          </a:p>
        </p:txBody>
      </p:sp>
      <p:pic>
        <p:nvPicPr>
          <p:cNvPr id="22" name="Image 2" descr="/home/user/workspace/w/a10/docs/presentation/assets/logo_draf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83880" y="2468880"/>
            <a:ext cx="2651760" cy="84490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183880" y="34290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Компании выбирают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подтверждённых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8001000" y="4297680"/>
            <a:ext cx="3749040" cy="1371600"/>
          </a:xfrm>
          <a:prstGeom prst="roundRect">
            <a:avLst>
              <a:gd name="adj" fmla="val 9333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8202168" y="4480560"/>
            <a:ext cx="3346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Что дальше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8202168" y="4937760"/>
            <a:ext cx="33467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F3F4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Калибровка на ответах людей — в плане, не проведена: 300–500 участников, 6–8 недель. Протокол — до начала.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Команда Neuropeople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«Драфт» — найм IT-специалистов с подтверждённым грейдом</dc:title>
  <dc:subject>PptxGenJS Presentation</dc:subject>
  <dc:creator>Команда Neuropeople</dc:creator>
  <cp:lastModifiedBy>Команда Neuropeople</cp:lastModifiedBy>
  <cp:revision>1</cp:revision>
  <dcterms:created xsi:type="dcterms:W3CDTF">2026-10-21T19:23:26Z</dcterms:created>
  <dcterms:modified xsi:type="dcterms:W3CDTF">2026-10-21T19:23:26Z</dcterms:modified>
</cp:coreProperties>
</file>